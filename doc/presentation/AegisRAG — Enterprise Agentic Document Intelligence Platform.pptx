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Aegis/shield meaning before the tech-stack line -- it's the one detail that makes the name memorable instead of generic. Pause after "Enterprise Agentic Document Intelligence Platform"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8-step chain is the one sentence that summarizes the whole system if asked "what does this do" cold. Memorize the order: Ingest, Retrieve, Reason, Validate, Cite, Observe, Evaluate, Improve.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to pick the single most important plane, say Trust &amp; Governance -- that's what the Aegis name is actually about, not just retrieval. Knowledge and AI Runtime are what most fresher projects have; the bottom row is the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numbers are real, measured on this exact corpus -- not example numbers. Say so if asked. The "0" card is checksum-based dedupe: re-running ingestion on an unchanged file is a verified no-op, tested in tests/integration/test_ingestion_dedupe.py.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slide to reference right before your live question -- say "watch, this loop is about to run" then switch to OpenWebUI. Worth mentioning here that 2 of these 5 steps (Planner, Evidence Validator) can be skipped by a fast heuristic instead of an LLM call -- see the cheat sheet's smart-bypass section for the exact numbers (107.8s vs 58.3s) if asked why it's not always all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captured OpenWebUI session, not written for the deck. If your live demo answer differs in wording, that's fine -- say "same shape as what you're about to see live", don't apologize for it being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dark statement slide -- pause here, don't rush. If asked to pick one thing that proves this isn't just a chatbot, point at this slide. The audit log lives in Postgres (table audit_log) -- see the cheat sheet section 13a for the exact columns (event_hash, previous_event_hash, policy_version) and the make verify-audit command to prove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 to actually open Phoenix right after this slide -- say "let me show you" and switch live rather than just describing spans. See cheat sheet section 12 for the click-by-click path. If smart bypass or the cache fired during your demo, this trace will show fewer spans than the "4 LLM calls" claimed here -- point that out as visual proof, not a contradiction.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if pushed on scale: the golden set is small (4 questions on 1 document) -- say so plainly rather than let the metric names imply more coverage than there is. The mechanism (RAGAs harness + saved baseline in evaluation/run.py) is real and complete; the dataset is what's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table top to bottom once, don't paraphrase every row -- let it speak, and only elaborate on whichever row they ask about. If time is short and they only let you cover one row, pick Trust (confidence-gated abstention) -- it's the most concrete, testable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slide -- read it slowly. The middle card earns trust precisely because it admits a gap; don't rush past it or look uncomfortable about it. It's a strength, not a weakness, if you present it as a deliberate scoping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"why not deploy it", the honest answer is on this slide: no cloud environment was provisioned for this assessment. Don't invent a technical reason -- the real reason is simply access, and the reference architecture (doc/12-cloud-reference-architecture.md) shows the plan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dark cards are the newest and strongest -- both backed by a live-demoable number, unlike the four lighter cards. If time is short, point at only these two and say "I can show you both of these running, right now" -- then actually do it if they take you up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"why not LangGraph": this isn't unfamiliarity, it's a deliberate call. LangGraph's real strengths are state management, conditional routing and retry loops -- say that plainly. Then pivot to: the assessment mandates CrewAI, and orchestrator.py implements the same state-machine behavior LangGraph would give for free, as explicit reviewable Python instead of framework magic. On Phoenix vs LangSmith: be honest that LangSmith is likely the stronger choice on a LangChain/LangGraph-native stack -- Phoenix won here on open-source/self-hosted fit for a fully local deployment, not on being categorically better. Don't get defensive; this slide's whole point is that the tradeoff was seen and chosen, not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here, then stop talking and take questions -- don't keep selling after this slide. If they ask "what would you do with one more week", the three cards above are your ready-made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8128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0" y="916930"/>
            <a:ext cx="2749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ASSESSMENT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12800" y="142240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AegisRAG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812800" y="2590800"/>
            <a:ext cx="1088339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1F3A5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Enterprise Agentic Document Intelligence Platform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15975" y="3735090"/>
            <a:ext cx="10560050" cy="946150"/>
          </a:xfrm>
          <a:prstGeom prst="roundRect">
            <a:avLst>
              <a:gd name="adj" fmla="val 10403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2350" y="3941465"/>
            <a:ext cx="1045171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</a:t>
            </a: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Greek for "shield" or "protection". </a:t>
            </a:r>
            <a:r>
              <a:rPr lang="en-US" sz="120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RAG</a:t>
            </a:r>
            <a:r>
              <a:rPr lang="en-US" sz="12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Retrieval-Augmented Generation.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22350" y="4246265"/>
            <a:ext cx="1045171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Designed to make enterprise AI grounded, observable and controlled — not simply generative.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549027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RAG Backend for OpenWebUI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5840760"/>
            <a:ext cx="10883392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spc="50" kern="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Docling · LlamaIndex · CrewAI · PostgreSQL / PGVector · Ollama · Arize Phoenix · RAGAs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&amp;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055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Enterprise documents are searchable. They aren't trustworthy.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026245"/>
            <a:ext cx="5181600" cy="1410295"/>
          </a:xfrm>
          <a:prstGeom prst="roundRect">
            <a:avLst>
              <a:gd name="adj" fmla="val 6979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258020"/>
            <a:ext cx="48595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7750" y="2547541"/>
            <a:ext cx="4859592" cy="682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model that answers confidently from a PDF — with no citation, no confidence signal, no audit trail — is a liability in an enterprise setting, not a feature.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03950" y="2023070"/>
            <a:ext cx="5175250" cy="1416645"/>
          </a:xfrm>
          <a:prstGeom prst="roundRect">
            <a:avLst>
              <a:gd name="adj" fmla="val 7172"/>
            </a:avLst>
          </a:prstGeom>
          <a:solidFill>
            <a:srgbClr val="1F3A5C"/>
          </a:solidFill>
          <a:ln/>
        </p:spPr>
      </p:sp>
      <p:sp>
        <p:nvSpPr>
          <p:cNvPr id="8" name="Text 6"/>
          <p:cNvSpPr/>
          <p:nvPr/>
        </p:nvSpPr>
        <p:spPr>
          <a:xfrm>
            <a:off x="6432550" y="2251670"/>
            <a:ext cx="48595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approach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32550" y="2541191"/>
            <a:ext cx="48595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D9E1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 treats retrieval and reasoning as something to prove, not assert — evidence-first, cited, scored and logged at every step.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5975" y="4569718"/>
            <a:ext cx="1071563" cy="421630"/>
          </a:xfrm>
          <a:prstGeom prst="roundRect">
            <a:avLst>
              <a:gd name="adj" fmla="val 17320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8167" y="4687193"/>
            <a:ext cx="447179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54213" y="4673898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73288" y="4569718"/>
            <a:ext cx="1071563" cy="421630"/>
          </a:xfrm>
          <a:prstGeom prst="roundRect">
            <a:avLst>
              <a:gd name="adj" fmla="val 17320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5452" y="4687193"/>
            <a:ext cx="567234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1525" y="4673898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30600" y="4569718"/>
            <a:ext cx="1071563" cy="421630"/>
          </a:xfrm>
          <a:prstGeom prst="roundRect">
            <a:avLst>
              <a:gd name="adj" fmla="val 17320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3225" y="4687193"/>
            <a:ext cx="506264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Reason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8838" y="4673898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87913" y="4569718"/>
            <a:ext cx="1071563" cy="421630"/>
          </a:xfrm>
          <a:prstGeom prst="roundRect">
            <a:avLst>
              <a:gd name="adj" fmla="val 17320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4195" y="4687193"/>
            <a:ext cx="558998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26150" y="4673898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45225" y="4569718"/>
            <a:ext cx="1071563" cy="421630"/>
          </a:xfrm>
          <a:prstGeom prst="roundRect">
            <a:avLst>
              <a:gd name="adj" fmla="val 17320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2525" y="4687193"/>
            <a:ext cx="296912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83463" y="4673898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02538" y="4569718"/>
            <a:ext cx="1071563" cy="421630"/>
          </a:xfrm>
          <a:prstGeom prst="roundRect">
            <a:avLst>
              <a:gd name="adj" fmla="val 17320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56538" y="4687193"/>
            <a:ext cx="563513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40775" y="4673898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59850" y="4569718"/>
            <a:ext cx="1071563" cy="421630"/>
          </a:xfrm>
          <a:prstGeom prst="roundRect">
            <a:avLst>
              <a:gd name="adj" fmla="val 17320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01001" y="4687193"/>
            <a:ext cx="589260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98088" y="4673898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313988" y="4572893"/>
            <a:ext cx="1065213" cy="415280"/>
          </a:xfrm>
          <a:prstGeom prst="roundRect">
            <a:avLst>
              <a:gd name="adj" fmla="val 18349"/>
            </a:avLst>
          </a:prstGeom>
          <a:solidFill>
            <a:srgbClr val="1F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10559306" y="4687193"/>
            <a:ext cx="574576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4536" y="6238280"/>
            <a:ext cx="4554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15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Six planes, one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972270"/>
            <a:ext cx="3420517" cy="1858665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31850" y="1972270"/>
            <a:ext cx="0" cy="1858665"/>
          </a:xfrm>
          <a:prstGeom prst="line">
            <a:avLst/>
          </a:prstGeom>
          <a:noFill/>
          <a:ln w="38100">
            <a:solidFill>
              <a:srgbClr val="1F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2150070"/>
            <a:ext cx="311762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8700" y="2411661"/>
            <a:ext cx="311762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OpenWebUI — the chat interface, no RAG logic inside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5717" y="1972270"/>
            <a:ext cx="3420517" cy="1858665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404767" y="1972270"/>
            <a:ext cx="0" cy="1858665"/>
          </a:xfrm>
          <a:prstGeom prst="line">
            <a:avLst/>
          </a:prstGeom>
          <a:noFill/>
          <a:ln w="38100">
            <a:solidFill>
              <a:srgbClr val="1F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1617" y="2150070"/>
            <a:ext cx="311762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/ Security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01617" y="2411661"/>
            <a:ext cx="311762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FastAPI, OpenAI-compatible endpoint, guardrail checkpoints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8634" y="1972270"/>
            <a:ext cx="3420566" cy="1858665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7684" y="1972270"/>
            <a:ext cx="0" cy="1858665"/>
          </a:xfrm>
          <a:prstGeom prst="line">
            <a:avLst/>
          </a:prstGeom>
          <a:noFill/>
          <a:ln w="38100">
            <a:solidFill>
              <a:srgbClr val="1F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4534" y="2150070"/>
            <a:ext cx="311767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Runtime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74534" y="2411661"/>
            <a:ext cx="311767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CrewAI agents orchestrating LlamaIndex query engines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800" y="3983335"/>
            <a:ext cx="3420517" cy="1858665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31850" y="3983335"/>
            <a:ext cx="0" cy="1858665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700" y="4161135"/>
            <a:ext cx="311762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8700" y="4422725"/>
            <a:ext cx="311762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Docling ingestion + PostgreSQL / PGVector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5717" y="3983335"/>
            <a:ext cx="3420517" cy="1858665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04767" y="3983335"/>
            <a:ext cx="0" cy="1858665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1617" y="4161135"/>
            <a:ext cx="311762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 &amp; Governance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01617" y="4422725"/>
            <a:ext cx="311762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Guardrails, human-in-the-loop, hash-chain audit log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8634" y="3983335"/>
            <a:ext cx="3420566" cy="1858665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977684" y="3983335"/>
            <a:ext cx="0" cy="1858665"/>
          </a:xfrm>
          <a:prstGeom prst="line">
            <a:avLst/>
          </a:prstGeom>
          <a:noFill/>
          <a:ln w="38100">
            <a:solidFill>
              <a:srgbClr val="B08D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4534" y="4161135"/>
            <a:ext cx="311767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 &amp; Learning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74534" y="4422725"/>
            <a:ext cx="311767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Arize Phoenix, RAGAs, feedback loop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4536" y="6238280"/>
            <a:ext cx="4554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15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KNOWLEDGE PLANE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Ingestion — structure preserved, not flattened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085280"/>
            <a:ext cx="1824980" cy="824210"/>
          </a:xfrm>
          <a:prstGeom prst="roundRect">
            <a:avLst>
              <a:gd name="adj" fmla="val 11942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pic>
        <p:nvPicPr>
          <p:cNvPr id="5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07790" y="2253555"/>
            <a:ext cx="241300" cy="241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3252" y="2545655"/>
            <a:ext cx="79037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corpus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33030" y="2372916"/>
            <a:ext cx="228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02905" y="1975445"/>
            <a:ext cx="1825030" cy="1043880"/>
          </a:xfrm>
          <a:prstGeom prst="roundRect">
            <a:avLst>
              <a:gd name="adj" fmla="val 9429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pic>
        <p:nvPicPr>
          <p:cNvPr id="9" name="Image 1" descr="Sear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94770" y="2143720"/>
            <a:ext cx="241300" cy="241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1658" y="2435820"/>
            <a:ext cx="98747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Docling parser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49216" y="2682180"/>
            <a:ext cx="1332359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layout, tables, headings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920010" y="2372916"/>
            <a:ext cx="228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189885" y="1975445"/>
            <a:ext cx="1824980" cy="1043880"/>
          </a:xfrm>
          <a:prstGeom prst="roundRect">
            <a:avLst>
              <a:gd name="adj" fmla="val 9429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pic>
        <p:nvPicPr>
          <p:cNvPr id="14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81700" y="2143720"/>
            <a:ext cx="241300" cy="241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80162" y="2435820"/>
            <a:ext cx="104437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Hybrid chunker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87392" y="2682180"/>
            <a:ext cx="1229916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 + semantics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7106940" y="2372916"/>
            <a:ext cx="228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376815" y="1975445"/>
            <a:ext cx="1824980" cy="1043880"/>
          </a:xfrm>
          <a:prstGeom prst="roundRect">
            <a:avLst>
              <a:gd name="adj" fmla="val 9429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pic>
        <p:nvPicPr>
          <p:cNvPr id="19" name="Image 3" descr="Light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68630" y="2143720"/>
            <a:ext cx="241300" cy="2413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18164" y="2435820"/>
            <a:ext cx="134228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 embeddings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755037" y="2682180"/>
            <a:ext cx="1068487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nomic-embed-text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9293870" y="2372916"/>
            <a:ext cx="228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9560570" y="2088455"/>
            <a:ext cx="1818630" cy="817860"/>
          </a:xfrm>
          <a:prstGeom prst="roundRect">
            <a:avLst>
              <a:gd name="adj" fmla="val 12423"/>
            </a:avLst>
          </a:prstGeom>
          <a:solidFill>
            <a:srgbClr val="1F3A5C"/>
          </a:solidFill>
          <a:ln/>
        </p:spPr>
      </p:sp>
      <p:pic>
        <p:nvPicPr>
          <p:cNvPr id="24" name="Image 4" descr="Databa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349210" y="2253555"/>
            <a:ext cx="241300" cy="2413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142141" y="2545655"/>
            <a:ext cx="65548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PGVector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812800" y="3276501"/>
            <a:ext cx="2527300" cy="2565499"/>
          </a:xfrm>
          <a:prstGeom prst="roundRect">
            <a:avLst>
              <a:gd name="adj" fmla="val 4020"/>
            </a:avLst>
          </a:prstGeom>
          <a:solidFill>
            <a:srgbClr val="F0EFE9"/>
          </a:solidFill>
          <a:ln/>
        </p:spPr>
      </p:sp>
      <p:sp>
        <p:nvSpPr>
          <p:cNvPr id="27" name="Text 20"/>
          <p:cNvSpPr/>
          <p:nvPr/>
        </p:nvSpPr>
        <p:spPr>
          <a:xfrm>
            <a:off x="1832570" y="4151610"/>
            <a:ext cx="53851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3200" dirty="0"/>
          </a:p>
        </p:txBody>
      </p:sp>
      <p:sp>
        <p:nvSpPr>
          <p:cNvPr id="28" name="Text 21"/>
          <p:cNvSpPr/>
          <p:nvPr/>
        </p:nvSpPr>
        <p:spPr>
          <a:xfrm>
            <a:off x="1631553" y="4771330"/>
            <a:ext cx="88974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pages parsed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492500" y="3276501"/>
            <a:ext cx="2527300" cy="2565499"/>
          </a:xfrm>
          <a:prstGeom prst="roundRect">
            <a:avLst>
              <a:gd name="adj" fmla="val 4020"/>
            </a:avLst>
          </a:prstGeom>
          <a:solidFill>
            <a:srgbClr val="F0EFE9"/>
          </a:solidFill>
          <a:ln/>
        </p:spPr>
      </p:sp>
      <p:sp>
        <p:nvSpPr>
          <p:cNvPr id="30" name="Text 23"/>
          <p:cNvSpPr/>
          <p:nvPr/>
        </p:nvSpPr>
        <p:spPr>
          <a:xfrm>
            <a:off x="4512270" y="4151610"/>
            <a:ext cx="53851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69</a:t>
            </a:r>
            <a:endParaRPr lang="en-US" sz="3200" dirty="0"/>
          </a:p>
        </p:txBody>
      </p:sp>
      <p:sp>
        <p:nvSpPr>
          <p:cNvPr id="31" name="Text 24"/>
          <p:cNvSpPr/>
          <p:nvPr/>
        </p:nvSpPr>
        <p:spPr>
          <a:xfrm>
            <a:off x="4241354" y="4771330"/>
            <a:ext cx="102954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chunks indexed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172200" y="3276501"/>
            <a:ext cx="2527300" cy="2565499"/>
          </a:xfrm>
          <a:prstGeom prst="roundRect">
            <a:avLst>
              <a:gd name="adj" fmla="val 4020"/>
            </a:avLst>
          </a:prstGeom>
          <a:solidFill>
            <a:srgbClr val="F0EFE9"/>
          </a:solidFill>
          <a:ln/>
        </p:spPr>
      </p:sp>
      <p:sp>
        <p:nvSpPr>
          <p:cNvPr id="33" name="Text 26"/>
          <p:cNvSpPr/>
          <p:nvPr/>
        </p:nvSpPr>
        <p:spPr>
          <a:xfrm>
            <a:off x="7090569" y="4151610"/>
            <a:ext cx="74131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36s</a:t>
            </a:r>
            <a:endParaRPr lang="en-US" sz="3200" dirty="0"/>
          </a:p>
        </p:txBody>
      </p:sp>
      <p:sp>
        <p:nvSpPr>
          <p:cNvPr id="34" name="Text 27"/>
          <p:cNvSpPr/>
          <p:nvPr/>
        </p:nvSpPr>
        <p:spPr>
          <a:xfrm>
            <a:off x="6966396" y="4771330"/>
            <a:ext cx="93890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 time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851900" y="3276501"/>
            <a:ext cx="2527300" cy="2565499"/>
          </a:xfrm>
          <a:prstGeom prst="roundRect">
            <a:avLst>
              <a:gd name="adj" fmla="val 4020"/>
            </a:avLst>
          </a:prstGeom>
          <a:solidFill>
            <a:srgbClr val="F0EFE9"/>
          </a:solidFill>
          <a:ln/>
        </p:spPr>
      </p:sp>
      <p:sp>
        <p:nvSpPr>
          <p:cNvPr id="36" name="Text 29"/>
          <p:cNvSpPr/>
          <p:nvPr/>
        </p:nvSpPr>
        <p:spPr>
          <a:xfrm>
            <a:off x="9993610" y="4151610"/>
            <a:ext cx="2946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</a:t>
            </a:r>
            <a:endParaRPr lang="en-US" sz="3200" dirty="0"/>
          </a:p>
        </p:txBody>
      </p:sp>
      <p:sp>
        <p:nvSpPr>
          <p:cNvPr id="37" name="Text 30"/>
          <p:cNvSpPr/>
          <p:nvPr/>
        </p:nvSpPr>
        <p:spPr>
          <a:xfrm>
            <a:off x="9579719" y="4771330"/>
            <a:ext cx="107161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 to re-ingest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0974536" y="6238280"/>
            <a:ext cx="4554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15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RUNTIME PLANE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Five agents, not fifteen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921470"/>
            <a:ext cx="2032000" cy="910580"/>
          </a:xfrm>
          <a:prstGeom prst="roundRect">
            <a:avLst>
              <a:gd name="adj" fmla="val 1115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2073870"/>
            <a:ext cx="1779016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Planner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5200" y="2324050"/>
            <a:ext cx="17790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Classifies intent, decomposes the question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46400" y="1921470"/>
            <a:ext cx="2032000" cy="910580"/>
          </a:xfrm>
          <a:prstGeom prst="roundRect">
            <a:avLst>
              <a:gd name="adj" fmla="val 1115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098800" y="2073870"/>
            <a:ext cx="1779016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Retrieval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98800" y="2324050"/>
            <a:ext cx="17790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Hybrid search: PGVector + lexical, RRF-fused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80000" y="1921470"/>
            <a:ext cx="2032000" cy="910580"/>
          </a:xfrm>
          <a:prstGeom prst="roundRect">
            <a:avLst>
              <a:gd name="adj" fmla="val 11158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232400" y="2073870"/>
            <a:ext cx="1779016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Evidence Validator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2400" y="2324050"/>
            <a:ext cx="17790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Supported, partial, contradictory or insufficient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13600" y="1921470"/>
            <a:ext cx="2032000" cy="910580"/>
          </a:xfrm>
          <a:prstGeom prst="roundRect">
            <a:avLst>
              <a:gd name="adj" fmla="val 1115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66000" y="2073870"/>
            <a:ext cx="1779016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Synthesis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66000" y="2324050"/>
            <a:ext cx="17790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Writes from approved evidence only, cited inline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47200" y="1921470"/>
            <a:ext cx="2032000" cy="910580"/>
          </a:xfrm>
          <a:prstGeom prst="roundRect">
            <a:avLst>
              <a:gd name="adj" fmla="val 11158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499600" y="2073870"/>
            <a:ext cx="1779016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· Citation &amp; Quality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499600" y="2324050"/>
            <a:ext cx="17790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 claims, scores confidence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2800" y="3060650"/>
            <a:ext cx="5826522" cy="2781350"/>
          </a:xfrm>
          <a:prstGeom prst="roundRect">
            <a:avLst>
              <a:gd name="adj" fmla="val 3653"/>
            </a:avLst>
          </a:prstGeom>
          <a:solidFill>
            <a:srgbClr val="1F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400" y="4090640"/>
            <a:ext cx="55304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loop is bounded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41400" y="4392861"/>
            <a:ext cx="553040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9E1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Insufficient evidence sends the Retrieval agent back with a reformulated query — up to 2 retries, then the run stops rather than guessing.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91722" y="3060650"/>
            <a:ext cx="4587478" cy="2781350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020322" y="4081760"/>
            <a:ext cx="425418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confidence ≥ 0.85 → answer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20322" y="4353520"/>
            <a:ext cx="425418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0.60 – 0.85 → answer + caveat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20322" y="4625280"/>
            <a:ext cx="425418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&lt; 0.60 → abstain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4536" y="6238280"/>
            <a:ext cx="4554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15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VERIFIED, NOT SIMULATED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 real question, through the real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24645"/>
            <a:ext cx="6234658" cy="3914180"/>
          </a:xfrm>
          <a:prstGeom prst="roundRect">
            <a:avLst>
              <a:gd name="adj" fmla="val 2515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156420"/>
            <a:ext cx="5944241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"What is ethical AI?" — asked live in OpenWebUI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47750" y="2462461"/>
            <a:ext cx="5944241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"Ethical AI involves ensuring that AI systems do not harm humans or other morally relevant beings... A being has moral status if it counts morally in its own right [EthicsofAI.pdf, p.6]... AI must consider responsibility, transparency, auditability, incorruptibility and predictability [EthicsofAI.pdf, p.3]."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257008" y="1921470"/>
            <a:ext cx="4122192" cy="1052810"/>
          </a:xfrm>
          <a:prstGeom prst="roundRect">
            <a:avLst>
              <a:gd name="adj" fmla="val 9650"/>
            </a:avLst>
          </a:prstGeom>
          <a:solidFill>
            <a:srgbClr val="1F3A5C"/>
          </a:solidFill>
          <a:ln/>
        </p:spPr>
      </p:sp>
      <p:sp>
        <p:nvSpPr>
          <p:cNvPr id="8" name="Text 6"/>
          <p:cNvSpPr/>
          <p:nvPr/>
        </p:nvSpPr>
        <p:spPr>
          <a:xfrm>
            <a:off x="8944918" y="2086570"/>
            <a:ext cx="797173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426119" y="2622500"/>
            <a:ext cx="1783921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9E1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confidence — auto-answered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57008" y="3101280"/>
            <a:ext cx="4122192" cy="2740720"/>
          </a:xfrm>
          <a:prstGeom prst="roundRect">
            <a:avLst>
              <a:gd name="adj" fmla="val 3707"/>
            </a:avLst>
          </a:prstGeom>
          <a:solidFill>
            <a:srgbClr val="F0EFE9"/>
          </a:solidFill>
          <a:ln/>
        </p:spPr>
      </p:sp>
      <p:sp>
        <p:nvSpPr>
          <p:cNvPr id="11" name="Text 9"/>
          <p:cNvSpPr/>
          <p:nvPr/>
        </p:nvSpPr>
        <p:spPr>
          <a:xfrm>
            <a:off x="7434808" y="3279080"/>
            <a:ext cx="3879590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 returned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34808" y="3510211"/>
            <a:ext cx="38795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EthicsofAI.pdf, p.6 — Machines with Moral Status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34808" y="3751511"/>
            <a:ext cx="38795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EthicsofAI.pdf, p.1 — The Ethics of 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34808" y="3992811"/>
            <a:ext cx="38795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EthicsofAI.pdf, p.2–3 — Ethics in Machine Learning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4536" y="6238280"/>
            <a:ext cx="4554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15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9A8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 &amp; GOVERNANCE PLANE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FBFBF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What "Aegis" actually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972270"/>
            <a:ext cx="3420517" cy="3869730"/>
          </a:xfrm>
          <a:prstGeom prst="roundRect">
            <a:avLst>
              <a:gd name="adj" fmla="val 2970"/>
            </a:avLst>
          </a:prstGeom>
          <a:solidFill>
            <a:srgbClr val="243248"/>
          </a:solidFill>
          <a:ln/>
        </p:spPr>
      </p:sp>
      <p:pic>
        <p:nvPicPr>
          <p:cNvPr id="5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217547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6000" y="2492970"/>
            <a:ext cx="310454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16000" y="2779961"/>
            <a:ext cx="310454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BFC8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Input, retrieval-content and output checkpoints. Document text is data, never instructions — tested against prompt-injection patterns.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5717" y="1972270"/>
            <a:ext cx="3420566" cy="3869730"/>
          </a:xfrm>
          <a:prstGeom prst="roundRect">
            <a:avLst>
              <a:gd name="adj" fmla="val 2970"/>
            </a:avLst>
          </a:prstGeom>
          <a:solidFill>
            <a:srgbClr val="243248"/>
          </a:solidFill>
          <a:ln/>
        </p:spPr>
      </p:sp>
      <p:pic>
        <p:nvPicPr>
          <p:cNvPr id="9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88917" y="217547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88917" y="2492970"/>
            <a:ext cx="310459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88917" y="2779961"/>
            <a:ext cx="3104591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BFC8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Risk-based escalation — low-risk answers flow automatically, high-risk or conflicting evidence routes to review.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958683" y="1972270"/>
            <a:ext cx="3420517" cy="3869730"/>
          </a:xfrm>
          <a:prstGeom prst="roundRect">
            <a:avLst>
              <a:gd name="adj" fmla="val 2970"/>
            </a:avLst>
          </a:prstGeom>
          <a:solidFill>
            <a:srgbClr val="243248"/>
          </a:solidFill>
          <a:ln/>
        </p:spPr>
      </p:sp>
      <p:pic>
        <p:nvPicPr>
          <p:cNvPr id="13" name="Image 2" descr="Ke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1883" y="217547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61883" y="2492970"/>
            <a:ext cx="310454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Hash-chain audit log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61883" y="2779961"/>
            <a:ext cx="310454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BFC8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agent decision, SHA-256 linked. Tamper-detection integration-tested: an altered row is caught immediately.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974536" y="6238280"/>
            <a:ext cx="4554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/ 15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 &amp; LEARNING PLANE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Every inference call, traced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75445"/>
            <a:ext cx="5181600" cy="3863380"/>
          </a:xfrm>
          <a:prstGeom prst="roundRect">
            <a:avLst>
              <a:gd name="adj" fmla="val 2548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181820"/>
            <a:ext cx="491191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Verified in Arize Phoenix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2350" y="2468811"/>
            <a:ext cx="491191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trace per request, spanning: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2350" y="2767261"/>
            <a:ext cx="491191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4 LLM completion spans — planner, evidence validator, synthesis, citation &amp; quality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2350" y="3275261"/>
            <a:ext cx="491191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2 embedding spans, 2 retriever spans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3950" y="1972270"/>
            <a:ext cx="5175250" cy="3869730"/>
          </a:xfrm>
          <a:prstGeom prst="roundRect">
            <a:avLst>
              <a:gd name="adj" fmla="val 2626"/>
            </a:avLst>
          </a:prstGeom>
          <a:solidFill>
            <a:srgbClr val="F0EFE9"/>
          </a:solidFill>
          <a:ln/>
        </p:spPr>
      </p:sp>
      <p:sp>
        <p:nvSpPr>
          <p:cNvPr id="10" name="Text 8"/>
          <p:cNvSpPr/>
          <p:nvPr/>
        </p:nvSpPr>
        <p:spPr>
          <a:xfrm>
            <a:off x="6407150" y="3403005"/>
            <a:ext cx="4911916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span carries the model, prompt version and latency — a bad answer is root-caused from the trace, not guessed at.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7150" y="3964285"/>
            <a:ext cx="4911916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Prompts are externalized and versioned (</a:t>
            </a:r>
            <a:r>
              <a:rPr lang="en-US" sz="110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/prompts/*.yaml</a:t>
            </a: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) — every trace records exactly which version ran.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4536" y="6238280"/>
            <a:ext cx="4554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/ 15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 &amp; LEARNING PLANE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Quality is measured, not assumed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972270"/>
            <a:ext cx="2565400" cy="518120"/>
          </a:xfrm>
          <a:prstGeom prst="roundRect">
            <a:avLst>
              <a:gd name="adj" fmla="val 1960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635621" y="2124670"/>
            <a:ext cx="9197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Faithfulness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9800" y="1972270"/>
            <a:ext cx="2565400" cy="518120"/>
          </a:xfrm>
          <a:prstGeom prst="roundRect">
            <a:avLst>
              <a:gd name="adj" fmla="val 1960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09591" y="2124670"/>
            <a:ext cx="13057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 relevancy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46800" y="1972270"/>
            <a:ext cx="2565400" cy="518120"/>
          </a:xfrm>
          <a:prstGeom prst="roundRect">
            <a:avLst>
              <a:gd name="adj" fmla="val 1960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785421" y="2124670"/>
            <a:ext cx="12881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 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13800" y="1972270"/>
            <a:ext cx="2565400" cy="518120"/>
          </a:xfrm>
          <a:prstGeom prst="roundRect">
            <a:avLst>
              <a:gd name="adj" fmla="val 1960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578975" y="2124670"/>
            <a:ext cx="1035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 recall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2744391"/>
            <a:ext cx="5181600" cy="3097609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2947591"/>
            <a:ext cx="491845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Golden set, real corpus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16000" y="3214291"/>
            <a:ext cx="491845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Factual and deliberately unanswerable questions — an unanswerable question should abstain, not guess.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7600" y="2744391"/>
            <a:ext cx="5181600" cy="3097609"/>
          </a:xfrm>
          <a:prstGeom prst="roundRect">
            <a:avLst>
              <a:gd name="adj" fmla="val 3280"/>
            </a:avLst>
          </a:prstGeom>
          <a:solidFill>
            <a:srgbClr val="1F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947591"/>
            <a:ext cx="491845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 &amp; regression gate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3214291"/>
            <a:ext cx="491845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9E1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run sets the baseline; every later run compares against it — a drop flags a regression instead of shipping silently.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4536" y="6238280"/>
            <a:ext cx="4554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/ 15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ENGINEERING JUDGMENT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Same brief, different engineering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21470"/>
          <a:ext cx="10566400" cy="3907830"/>
        </p:xfrm>
        <a:graphic>
          <a:graphicData uri="http://schemas.openxmlformats.org/drawingml/2006/table">
            <a:tbl>
              <a:tblPr/>
              <a:tblGrid>
                <a:gridCol w="2747264"/>
                <a:gridCol w="3909568"/>
                <a:gridCol w="3909568"/>
              </a:tblGrid>
              <a:tr h="65127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Dimension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Fresher approach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This build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C"/>
                    </a:solidFill>
                  </a:tcPr>
                </a:tc>
              </a:tr>
              <a:tr h="65127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Chunking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Fixed-size, no structure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Docling layout-aware, section-tagged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132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Retrieval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Single vector search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Hybrid + bounded self-correction loop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</a:tr>
              <a:tr h="65132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Trust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Answer confidently, always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Confidence-gated: answer, caveat or abstain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132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Observability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print() statements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Full OTel trace per agent hop, in Phoenix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</a:tr>
              <a:tr h="65132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Evidence of quality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Eyeballing a few answers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A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RAGAs golden set + regression baseline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B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883106" y="62382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15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STATED PLAINLY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Built vs. documented — nothing overclaimed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92250"/>
            <a:ext cx="3386634" cy="394975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pic>
        <p:nvPicPr>
          <p:cNvPr id="5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" y="2108150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8100" y="2110680"/>
            <a:ext cx="1898482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Running, verified locally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28700" y="2412950"/>
            <a:ext cx="3043479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Ingestion · hybrid retrieval · 5-agent crew · FastAPI + OpenWebUI · Phoenix tracing · guardrails · human-in-the-loop review queue · agent- and model-level fallback · smart bypass · semantic cache · hash-chain audit log · a unified control plane · a first RAGAs pass — 29 passing tests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402634" y="1892250"/>
            <a:ext cx="3386683" cy="394975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pic>
        <p:nvPicPr>
          <p:cNvPr id="9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8534" y="2108150"/>
            <a:ext cx="203200" cy="20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97934" y="2110680"/>
            <a:ext cx="150276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Genuinely not built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18534" y="2412950"/>
            <a:ext cx="304353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authentication · rate limiting · CI eval gate — no auth/traffic threat model exists at this assessment's single-local-user scale to justify building them speculatively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992517" y="1892250"/>
            <a:ext cx="3386683" cy="394975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pic>
        <p:nvPicPr>
          <p:cNvPr id="13" name="Image 2" descr="Clou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08417" y="2108150"/>
            <a:ext cx="203200" cy="20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87817" y="2110680"/>
            <a:ext cx="171192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Written, not deployed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08417" y="2412950"/>
            <a:ext cx="304353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full GCP reference architecture is written in /doc — component-by-component, nothing hand-waved. No cloud environment was provisioned for this assessment, so none of it has run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883106" y="62382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15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Laptop today, cloud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24645"/>
            <a:ext cx="5181600" cy="3914180"/>
          </a:xfrm>
          <a:prstGeom prst="roundRect">
            <a:avLst>
              <a:gd name="adj" fmla="val 2515"/>
            </a:avLst>
          </a:prstGeom>
          <a:solidFill>
            <a:srgbClr val="FFFFFF"/>
          </a:solidFill>
          <a:ln w="6350">
            <a:solidFill>
              <a:srgbClr val="E3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131020"/>
            <a:ext cx="491191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 — running 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2350" y="2418011"/>
            <a:ext cx="491191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docker-compose: Postgres+PGVector, Phoenix, OpenWebUI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2350" y="2716461"/>
            <a:ext cx="491191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 native on the host — llama3.2:3b + nomic-embed-text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2350" y="3014911"/>
            <a:ext cx="491191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backend, Python 3.11 venv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3950" y="1921470"/>
            <a:ext cx="5175250" cy="3920530"/>
          </a:xfrm>
          <a:prstGeom prst="roundRect">
            <a:avLst>
              <a:gd name="adj" fmla="val 2591"/>
            </a:avLst>
          </a:prstGeom>
          <a:solidFill>
            <a:srgbClr val="1F3A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7150" y="2124670"/>
            <a:ext cx="4911916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reference — GCP, documented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7150" y="2411661"/>
            <a:ext cx="491191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9E1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GKE / Cloud Run + Cloud SQL (PGVector)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7150" y="2710111"/>
            <a:ext cx="491191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9E1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KMS for audit-log signing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7150" y="3008561"/>
            <a:ext cx="491191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9E1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Vertex AI for future eval / fine-tuning tooling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883106" y="62382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15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547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What wasn't asked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921470"/>
            <a:ext cx="3437434" cy="1896765"/>
          </a:xfrm>
          <a:prstGeom prst="roundRect">
            <a:avLst>
              <a:gd name="adj" fmla="val 4017"/>
            </a:avLst>
          </a:prstGeom>
          <a:solidFill>
            <a:srgbClr val="1F3A5C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2073870"/>
            <a:ext cx="3226613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Smart bypass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65200" y="2329111"/>
            <a:ext cx="32266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9E1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107.8s → 58.3s — regex + cosine similarity skip an LLM call when the signal is already decisive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77234" y="1921470"/>
            <a:ext cx="3437483" cy="1896765"/>
          </a:xfrm>
          <a:prstGeom prst="roundRect">
            <a:avLst>
              <a:gd name="adj" fmla="val 4017"/>
            </a:avLst>
          </a:prstGeom>
          <a:solidFill>
            <a:srgbClr val="1F3A5C"/>
          </a:solidFill>
          <a:ln/>
        </p:spPr>
      </p:sp>
      <p:sp>
        <p:nvSpPr>
          <p:cNvPr id="8" name="Text 6"/>
          <p:cNvSpPr/>
          <p:nvPr/>
        </p:nvSpPr>
        <p:spPr>
          <a:xfrm>
            <a:off x="4529634" y="2073870"/>
            <a:ext cx="3226664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answer cache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29634" y="2329111"/>
            <a:ext cx="32266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9E1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50.6s → 0.1s on a repeat question — zero LLM calls, same citations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41717" y="1921470"/>
            <a:ext cx="3437434" cy="1896765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094117" y="2073870"/>
            <a:ext cx="3226613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Prompt-injection guardrail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94117" y="2329111"/>
            <a:ext cx="322661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unit-tested against real patterns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2800" y="3945235"/>
            <a:ext cx="3437434" cy="1896765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" y="4097635"/>
            <a:ext cx="3226613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Tamper-evident audit log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5200" y="4352875"/>
            <a:ext cx="322661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SHA-256 hash chain, not just a log file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77234" y="3945235"/>
            <a:ext cx="3437483" cy="1896765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29634" y="4097635"/>
            <a:ext cx="3226664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Checksum dedupe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29634" y="4352875"/>
            <a:ext cx="322666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re-ingest is a verified no-op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41717" y="3945235"/>
            <a:ext cx="3437434" cy="1896765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094117" y="4097635"/>
            <a:ext cx="3226613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Disclosed upstream bug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94117" y="4352875"/>
            <a:ext cx="322661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patched &amp; documented, not hidden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883106" y="62382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/ 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08D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ALTERNATIVES CONSIDERED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2932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A23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CrewAI + Phoenix, not LangGraph + LangSmith — and why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800" y="1812230"/>
            <a:ext cx="5181600" cy="2902049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2028130"/>
            <a:ext cx="489229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Orchestration: LangGraph would fit better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28700" y="2307530"/>
            <a:ext cx="489229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flow — plan → retrieve → validate → refine/retry → synthesize → cite — is a state machine: explicit state, conditional routing, retry loops, fallback and HITL gates. LangGraph models all of that natively; CrewAI's model is role/task collaboration, with state as a secondary concern.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8700" y="3144341"/>
            <a:ext cx="4892294" cy="960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assessment mandates CrewAI, so I didn't add LangGraph on top of it — CrewAI + LangGraph + LlamaIndex would be three orchestration-adjacent frameworks for one flow, a harder question to defend than the gap it fills. What LangGraph gives for free, </a:t>
            </a:r>
            <a:r>
              <a:rPr lang="en-US" sz="950" b="1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orchestrator.py</a:t>
            </a: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implements explicitly instead: state, retries, validation gates, abstention, escalation.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97600" y="1812230"/>
            <a:ext cx="5181600" cy="2902049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13500" y="2028130"/>
            <a:ext cx="489229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3A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Observability: LangSmith could be a better fit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13500" y="2307530"/>
            <a:ext cx="489229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LangSmith has deeper native tracing for LangChain/LangGraph pipelines specifically, plus a more polished built-in dataset/eval workflow. Phoenix was chosen for this build because it's open-source, self-hostable, and OTel-native — no external account, no data leaving the laptop.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13500" y="3144341"/>
            <a:ext cx="4892294" cy="586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fits a fully local, single-machine deployment. On a LangGraph-based stack, or a team already invested in LangSmith, the tradeoff inverts — it isn't a claim that Phoenix is better in general, only that it fit this project's constraints.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2800" y="4917480"/>
            <a:ext cx="10566400" cy="924520"/>
          </a:xfrm>
          <a:prstGeom prst="roundRect">
            <a:avLst>
              <a:gd name="adj" fmla="val 10989"/>
            </a:avLst>
          </a:prstGeom>
          <a:solidFill>
            <a:srgbClr val="1F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28700" y="5095280"/>
            <a:ext cx="102036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A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[icon: Scale]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99866" y="5179715"/>
            <a:ext cx="9335337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Fewer frameworks with explicit, auditable control flow beats stacking frameworks to look sophisticated — the same principle behind every other build choice in this deck.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23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883106" y="62382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/ 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9A8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 &amp;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FBFBF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3210570"/>
            <a:ext cx="3420517" cy="1002010"/>
          </a:xfrm>
          <a:prstGeom prst="roundRect">
            <a:avLst>
              <a:gd name="adj" fmla="val 10140"/>
            </a:avLst>
          </a:prstGeom>
          <a:solidFill>
            <a:srgbClr val="243248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388370"/>
            <a:ext cx="315686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9A8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0600" y="3634730"/>
            <a:ext cx="3156864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FC8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Expand the golden and adversarial eval sets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5717" y="3210570"/>
            <a:ext cx="3420566" cy="1002010"/>
          </a:xfrm>
          <a:prstGeom prst="roundRect">
            <a:avLst>
              <a:gd name="adj" fmla="val 10140"/>
            </a:avLst>
          </a:prstGeom>
          <a:solidFill>
            <a:srgbClr val="243248"/>
          </a:solidFill>
          <a:ln/>
        </p:spPr>
      </p:sp>
      <p:sp>
        <p:nvSpPr>
          <p:cNvPr id="8" name="Text 6"/>
          <p:cNvSpPr/>
          <p:nvPr/>
        </p:nvSpPr>
        <p:spPr>
          <a:xfrm>
            <a:off x="4563517" y="3388370"/>
            <a:ext cx="315691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9A8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63517" y="3634730"/>
            <a:ext cx="3156915" cy="225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FC8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auth, rate limiting, CI eval gate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8683" y="3210570"/>
            <a:ext cx="3420517" cy="1002010"/>
          </a:xfrm>
          <a:prstGeom prst="roundRect">
            <a:avLst>
              <a:gd name="adj" fmla="val 10140"/>
            </a:avLst>
          </a:prstGeom>
          <a:solidFill>
            <a:srgbClr val="243248"/>
          </a:solidFill>
          <a:ln/>
        </p:spPr>
      </p:sp>
      <p:sp>
        <p:nvSpPr>
          <p:cNvPr id="11" name="Text 9"/>
          <p:cNvSpPr/>
          <p:nvPr/>
        </p:nvSpPr>
        <p:spPr>
          <a:xfrm>
            <a:off x="8136483" y="3388370"/>
            <a:ext cx="315686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9A8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6483" y="3634730"/>
            <a:ext cx="3156864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FC8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Chaos-test model fallback; re-add 2nd PDF, OCR off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2800" y="5831880"/>
            <a:ext cx="7475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AegisRAG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85610" y="5845175"/>
            <a:ext cx="1950398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A9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github.com/mad0907/aegisRag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AegisRAG — Enterprise Agentic Document Intelligence Platform</dc:title>
  <dc:subject>PptxGenJS Presentation</dc:subject>
  <dc:creator>PptxGenJS</dc:creator>
  <cp:lastModifiedBy>PptxGenJS</cp:lastModifiedBy>
  <cp:revision>1</cp:revision>
  <dcterms:created xsi:type="dcterms:W3CDTF">2026-09-23T07:26:26Z</dcterms:created>
  <dcterms:modified xsi:type="dcterms:W3CDTF">2026-09-23T07:26:26Z</dcterms:modified>
</cp:coreProperties>
</file>