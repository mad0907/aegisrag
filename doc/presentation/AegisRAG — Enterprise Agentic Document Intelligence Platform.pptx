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Aegis/shield meaning before the tech-stack line -- it's the one detail that makes the name memorable instead of generic. Pause after "Enterprise Agentic Document Intelligence Platform" before moving 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8-step chain is the one sentence that summarizes the whole system if asked "what does this do" cold. Memorize the order: Ingest, Retrieve, Reason, Validate, Cite, Observe, Evaluate, Improve.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asked to pick the single most important plane, say Trust &amp; Governance -- that's what the Aegis name is actually about, not just retrieval. Knowledge and AI Runtime are what most fresher projects have; the bottom row is the differentiator.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four numbers are real, measured on this exact corpus -- not example numbers. Say so if asked. The "0" card is checksum-based dedupe: re-running ingestion on an unchanged file is a verified no-op, tested in tests/integration/test_ingestion_dedupe.py.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slide to reference right before your live question -- say "watch, this loop is about to run" then switch to OpenWebUI. Worth mentioning here that 2 of these 5 steps (Planner, Evidence Validator) can be skipped by a fast heuristic instead of an LLM call -- see the cheat sheet's smart-bypass section for the exact numbers (107.8s vs 58.3s) if asked why it's not always all 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a real captured OpenWebUI session, not written for the deck. If your live demo answer differs in wording, that's fine -- say "same shape as what you're about to see live", don't apologize for it being different.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dark statement slide -- pause here, don't rush. If asked to pick one thing that proves this isn't just a chatbot, point at this slide. The audit log lives in Postgres (table audit_log) -- see the cheat sheet section 13a for the exact columns (event_hash, previous_event_hash, policy_version) and the make verify-audit command to prove it live.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Cue to actually open Phoenix right after this slide -- say "let me show you" and switch live rather than just describing spans. See cheat sheet section 12 for the click-by-click path. If smart bypass or the cache fired during your demo, this trace will show fewer spans than the "4 LLM calls" claimed here -- point that out as visual proof, not a contradiction.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honest if pushed on scale: the golden set is small (4 questions on 1 document) -- say so plainly rather than let the metric names imply more coverage than there is. The mechanism (RAGAs harness + saved baseline in evaluation/run.py) is real and complete; the dataset is what's small.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this table top to bottom once, don't paraphrase every row -- let it speak, and only elaborate on whichever row they ask about. If time is short and they only let you cover one row, pick Trust (confidence-gated abstention) -- it's the most concrete, testable claim.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credibility slide -- read it slowly. The middle card earns trust precisely because it admits a gap; don't rush past it or look uncomfortable about it. It's a strength, not a weakness, if you present it as a deliberate scoping decision.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asked "why not deploy it", the honest answer is on this slide: no cloud environment was provisioned for this assessment. Don't invent a technical reason -- the real reason is simply access, and the reference architecture (doc/12-cloud-reference-architecture.md) shows the plan exists.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two dark cards are the newest and strongest -- both backed by a live-demoable number, unlike the four lighter cards. If time is short, point at only these two and say "I can show you both of these running, right now" -- then actually do it if they take you up on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asked "why not LangGraph": this isn't unfamiliarity, it's a deliberate call. LangGraph's real strengths are state management, conditional routing and retry loops -- say that plainly. Then pivot to: the assessment mandates CrewAI, and orchestrator.py implements the same state-machine behavior LangGraph would give for free, as explicit reviewable Python instead of framework magic. On Phoenix vs LangSmith: be honest that LangSmith is likely the stronger choice on a LangChain/LangGraph-native stack -- Phoenix won here on open-source/self-hosted fit for a fully local deployment, not on being categorically better. Don't get defensive; this slide's whole point is that the tradeoff was seen and chosen, not missed.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dark strip is the strongest part of this slide -- lean into it if asked "why not tier everything to the small model". This is evidence you actually measured the tradeoff instead of assuming smaller is always faster/safe. If pressed for detail: Evidence Validator's failure showed up as 4 iterations and a degraded_retrieval_only result instead of an answer; Citation &amp; Quality's failure showed up as confidence dropping from 1.0 to 0.00 on the same evidence. Both are in doc/13-latency-optimization.md with the full trace. The 30.8s/18.7s numbers were measured with smart_bypass and answer_cache both OFF specifically to isolate this lever from the other one -- say that if asked why the two big numbers on this slide use different baselines.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End here, then stop talking and take questions -- don't keep selling after this slide. If they ask "what would you do with one more week", the three cards above are your ready-made answer.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B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rect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12800" y="812800"/>
            <a:ext cx="457200" cy="4572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397000" y="916930"/>
            <a:ext cx="274961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spc="200" kern="0" dirty="0">
                <a:solidFill>
                  <a:srgbClr val="B08D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TECHNICAL ASSESSMENT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812800" y="1422400"/>
            <a:ext cx="10883392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8000"/>
              </a:lnSpc>
              <a:buNone/>
            </a:pPr>
            <a:r>
              <a:rPr lang="en-US" sz="8000" b="1" dirty="0">
                <a:solidFill>
                  <a:srgbClr val="1A2333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AegisRAG</a:t>
            </a:r>
            <a:endParaRPr lang="en-US" sz="8000" dirty="0"/>
          </a:p>
        </p:txBody>
      </p:sp>
      <p:sp>
        <p:nvSpPr>
          <p:cNvPr id="5" name="Text 2"/>
          <p:cNvSpPr/>
          <p:nvPr/>
        </p:nvSpPr>
        <p:spPr>
          <a:xfrm>
            <a:off x="812800" y="2590800"/>
            <a:ext cx="10883392" cy="360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640"/>
              </a:lnSpc>
              <a:buNone/>
            </a:pPr>
            <a:r>
              <a:rPr lang="en-US" sz="2200" i="1" dirty="0">
                <a:solidFill>
                  <a:srgbClr val="1F3A5C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Enterprise Agentic Document Intelligence Platform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815975" y="3735090"/>
            <a:ext cx="10560050" cy="946150"/>
          </a:xfrm>
          <a:prstGeom prst="roundRect">
            <a:avLst>
              <a:gd name="adj" fmla="val 10403"/>
            </a:avLst>
          </a:prstGeom>
          <a:solidFill>
            <a:srgbClr val="FFFFFF"/>
          </a:solidFill>
          <a:ln w="6350">
            <a:solidFill>
              <a:srgbClr val="E3E0D6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022350" y="3941465"/>
            <a:ext cx="10451719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5B647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Aegis</a:t>
            </a:r>
            <a:r>
              <a:rPr lang="en-US" sz="1200" dirty="0">
                <a:solidFill>
                  <a:srgbClr val="5B647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— Greek for "shield" or "protection". </a:t>
            </a:r>
            <a:r>
              <a:rPr lang="en-US" sz="1200" b="1" dirty="0">
                <a:solidFill>
                  <a:srgbClr val="5B647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RAG</a:t>
            </a:r>
            <a:r>
              <a:rPr lang="en-US" sz="1200" dirty="0">
                <a:solidFill>
                  <a:srgbClr val="5B647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— Retrieval-Augmented Generation.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1022350" y="4246265"/>
            <a:ext cx="10451719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A233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Designed to make enterprise AI grounded, observable and controlled — not simply generative.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12800" y="5490270"/>
            <a:ext cx="10883392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1A233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Agentic RAG Backend for OpenWebUI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12800" y="5840760"/>
            <a:ext cx="10883392" cy="229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10"/>
              </a:lnSpc>
              <a:buNone/>
            </a:pPr>
            <a:r>
              <a:rPr lang="en-US" sz="1150" spc="50" kern="0" dirty="0">
                <a:solidFill>
                  <a:srgbClr val="5B647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Docling · LlamaIndex · CrewAI · PostgreSQL / PGVector · Ollama · Arize Phoenix · RAGAs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B08D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PROBLEM &amp; APPROACH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305520"/>
            <a:ext cx="10883392" cy="463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450"/>
              </a:lnSpc>
              <a:buNone/>
            </a:pPr>
            <a:r>
              <a:rPr lang="en-US" sz="3000" b="1" dirty="0">
                <a:solidFill>
                  <a:srgbClr val="1A2333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Enterprise documents are searchable. They aren't trustworthy.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15975" y="2026245"/>
            <a:ext cx="5181600" cy="1410295"/>
          </a:xfrm>
          <a:prstGeom prst="roundRect">
            <a:avLst>
              <a:gd name="adj" fmla="val 6979"/>
            </a:avLst>
          </a:prstGeom>
          <a:solidFill>
            <a:srgbClr val="FFFFFF"/>
          </a:solidFill>
          <a:ln w="6350">
            <a:solidFill>
              <a:srgbClr val="E3E0D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47750" y="2258020"/>
            <a:ext cx="48595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1F3A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gap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047750" y="2547541"/>
            <a:ext cx="4859592" cy="6826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5B647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model that answers confidently from a PDF — with no citation, no confidence signal, no audit trail — is a liability in an enterprise setting, not a feature.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6203950" y="2023070"/>
            <a:ext cx="5175250" cy="1416645"/>
          </a:xfrm>
          <a:prstGeom prst="roundRect">
            <a:avLst>
              <a:gd name="adj" fmla="val 7172"/>
            </a:avLst>
          </a:prstGeom>
          <a:solidFill>
            <a:srgbClr val="1F3A5C"/>
          </a:solidFill>
          <a:ln/>
        </p:spPr>
      </p:sp>
      <p:sp>
        <p:nvSpPr>
          <p:cNvPr id="8" name="Text 6"/>
          <p:cNvSpPr/>
          <p:nvPr/>
        </p:nvSpPr>
        <p:spPr>
          <a:xfrm>
            <a:off x="6432550" y="2251670"/>
            <a:ext cx="48595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FBFB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approach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32550" y="2541191"/>
            <a:ext cx="4859592" cy="463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D9E1E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AegisRAG treats retrieval and reasoning as something to prove, not assert — evidence-first, cited, scored and logged at every step.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15975" y="4569718"/>
            <a:ext cx="1071563" cy="421630"/>
          </a:xfrm>
          <a:prstGeom prst="roundRect">
            <a:avLst>
              <a:gd name="adj" fmla="val 17320"/>
            </a:avLst>
          </a:prstGeom>
          <a:solidFill>
            <a:srgbClr val="FFFFFF"/>
          </a:solidFill>
          <a:ln w="6350">
            <a:solidFill>
              <a:srgbClr val="E3E0D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28167" y="4687193"/>
            <a:ext cx="447179" cy="212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470"/>
              </a:lnSpc>
              <a:buNone/>
            </a:pPr>
            <a:r>
              <a:rPr lang="en-US" sz="1050" b="1" dirty="0">
                <a:solidFill>
                  <a:srgbClr val="1A233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Ingest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1954213" y="4673898"/>
            <a:ext cx="2032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B08D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→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173288" y="4569718"/>
            <a:ext cx="1071563" cy="421630"/>
          </a:xfrm>
          <a:prstGeom prst="roundRect">
            <a:avLst>
              <a:gd name="adj" fmla="val 17320"/>
            </a:avLst>
          </a:prstGeom>
          <a:solidFill>
            <a:srgbClr val="FFFFFF"/>
          </a:solidFill>
          <a:ln w="6350">
            <a:solidFill>
              <a:srgbClr val="E3E0D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425452" y="4687193"/>
            <a:ext cx="567234" cy="212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470"/>
              </a:lnSpc>
              <a:buNone/>
            </a:pPr>
            <a:r>
              <a:rPr lang="en-US" sz="1050" b="1" dirty="0">
                <a:solidFill>
                  <a:srgbClr val="1A233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Retrieve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3311525" y="4673898"/>
            <a:ext cx="2032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B08D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→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530600" y="4569718"/>
            <a:ext cx="1071563" cy="421630"/>
          </a:xfrm>
          <a:prstGeom prst="roundRect">
            <a:avLst>
              <a:gd name="adj" fmla="val 17320"/>
            </a:avLst>
          </a:prstGeom>
          <a:solidFill>
            <a:srgbClr val="FFFFFF"/>
          </a:solidFill>
          <a:ln w="6350">
            <a:solidFill>
              <a:srgbClr val="E3E0D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813225" y="4687193"/>
            <a:ext cx="506264" cy="212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470"/>
              </a:lnSpc>
              <a:buNone/>
            </a:pPr>
            <a:r>
              <a:rPr lang="en-US" sz="1050" b="1" dirty="0">
                <a:solidFill>
                  <a:srgbClr val="1A233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Reason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4668838" y="4673898"/>
            <a:ext cx="2032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B08D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→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887913" y="4569718"/>
            <a:ext cx="1071563" cy="421630"/>
          </a:xfrm>
          <a:prstGeom prst="roundRect">
            <a:avLst>
              <a:gd name="adj" fmla="val 17320"/>
            </a:avLst>
          </a:prstGeom>
          <a:solidFill>
            <a:srgbClr val="FFFFFF"/>
          </a:solidFill>
          <a:ln w="6350">
            <a:solidFill>
              <a:srgbClr val="E3E0D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144195" y="4687193"/>
            <a:ext cx="558998" cy="212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470"/>
              </a:lnSpc>
              <a:buNone/>
            </a:pPr>
            <a:r>
              <a:rPr lang="en-US" sz="1050" b="1" dirty="0">
                <a:solidFill>
                  <a:srgbClr val="1A233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Validate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6026150" y="4673898"/>
            <a:ext cx="2032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B08D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→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245225" y="4569718"/>
            <a:ext cx="1071563" cy="421630"/>
          </a:xfrm>
          <a:prstGeom prst="roundRect">
            <a:avLst>
              <a:gd name="adj" fmla="val 17320"/>
            </a:avLst>
          </a:prstGeom>
          <a:solidFill>
            <a:srgbClr val="FFFFFF"/>
          </a:solidFill>
          <a:ln w="6350">
            <a:solidFill>
              <a:srgbClr val="E3E0D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632525" y="4687193"/>
            <a:ext cx="296912" cy="212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470"/>
              </a:lnSpc>
              <a:buNone/>
            </a:pPr>
            <a:r>
              <a:rPr lang="en-US" sz="1050" b="1" dirty="0">
                <a:solidFill>
                  <a:srgbClr val="1A233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Cite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7383463" y="4673898"/>
            <a:ext cx="2032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B08D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→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602538" y="4569718"/>
            <a:ext cx="1071563" cy="421630"/>
          </a:xfrm>
          <a:prstGeom prst="roundRect">
            <a:avLst>
              <a:gd name="adj" fmla="val 17320"/>
            </a:avLst>
          </a:prstGeom>
          <a:solidFill>
            <a:srgbClr val="FFFFFF"/>
          </a:solidFill>
          <a:ln w="6350">
            <a:solidFill>
              <a:srgbClr val="E3E0D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856538" y="4687193"/>
            <a:ext cx="563513" cy="212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470"/>
              </a:lnSpc>
              <a:buNone/>
            </a:pPr>
            <a:r>
              <a:rPr lang="en-US" sz="1050" b="1" dirty="0">
                <a:solidFill>
                  <a:srgbClr val="1A233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Observe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8740775" y="4673898"/>
            <a:ext cx="2032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B08D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→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8959850" y="4569718"/>
            <a:ext cx="1071563" cy="421630"/>
          </a:xfrm>
          <a:prstGeom prst="roundRect">
            <a:avLst>
              <a:gd name="adj" fmla="val 17320"/>
            </a:avLst>
          </a:prstGeom>
          <a:solidFill>
            <a:srgbClr val="FFFFFF"/>
          </a:solidFill>
          <a:ln w="6350">
            <a:solidFill>
              <a:srgbClr val="E3E0D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201001" y="4687193"/>
            <a:ext cx="589260" cy="212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470"/>
              </a:lnSpc>
              <a:buNone/>
            </a:pPr>
            <a:r>
              <a:rPr lang="en-US" sz="1050" b="1" dirty="0">
                <a:solidFill>
                  <a:srgbClr val="1A233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Evaluate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10098088" y="4673898"/>
            <a:ext cx="2032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B08D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→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10313988" y="4572893"/>
            <a:ext cx="1065213" cy="415280"/>
          </a:xfrm>
          <a:prstGeom prst="roundRect">
            <a:avLst>
              <a:gd name="adj" fmla="val 18349"/>
            </a:avLst>
          </a:prstGeom>
          <a:solidFill>
            <a:srgbClr val="1F3A5C"/>
          </a:solidFill>
          <a:ln/>
        </p:spPr>
      </p:sp>
      <p:sp>
        <p:nvSpPr>
          <p:cNvPr id="32" name="Text 30"/>
          <p:cNvSpPr/>
          <p:nvPr/>
        </p:nvSpPr>
        <p:spPr>
          <a:xfrm>
            <a:off x="10559306" y="4687193"/>
            <a:ext cx="574576" cy="212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470"/>
              </a:lnSpc>
              <a:buNone/>
            </a:pPr>
            <a:r>
              <a:rPr lang="en-US" sz="1050" b="1" dirty="0">
                <a:solidFill>
                  <a:srgbClr val="FBFB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Improve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812800" y="6238280"/>
            <a:ext cx="72380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8A8F9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AegisRAG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10974536" y="6238280"/>
            <a:ext cx="45546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8A8F9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 / 16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EF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B08D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ARCHITECTURE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280120"/>
            <a:ext cx="10883392" cy="463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450"/>
              </a:lnSpc>
              <a:buNone/>
            </a:pPr>
            <a:r>
              <a:rPr lang="en-US" sz="3000" b="1" dirty="0">
                <a:solidFill>
                  <a:srgbClr val="1A2333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Six planes, one platform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12800" y="1972270"/>
            <a:ext cx="3420517" cy="1858665"/>
          </a:xfrm>
          <a:prstGeom prst="roundRect">
            <a:avLst>
              <a:gd name="adj" fmla="val 4100"/>
            </a:avLst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831850" y="1972270"/>
            <a:ext cx="0" cy="1858665"/>
          </a:xfrm>
          <a:prstGeom prst="line">
            <a:avLst/>
          </a:prstGeom>
          <a:noFill/>
          <a:ln w="38100">
            <a:solidFill>
              <a:srgbClr val="1F3A5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28700" y="2150070"/>
            <a:ext cx="3117621" cy="2234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300" b="1" dirty="0">
                <a:solidFill>
                  <a:srgbClr val="1F3A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Experience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028700" y="2411661"/>
            <a:ext cx="3117621" cy="416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5B647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OpenWebUI — the chat interface, no RAG logic inside it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5717" y="1972270"/>
            <a:ext cx="3420517" cy="1858665"/>
          </a:xfrm>
          <a:prstGeom prst="roundRect">
            <a:avLst>
              <a:gd name="adj" fmla="val 4100"/>
            </a:avLst>
          </a:prstGeom>
          <a:solidFill>
            <a:srgbClr val="FFFFFF"/>
          </a:solidFill>
          <a:ln/>
        </p:spPr>
      </p:sp>
      <p:sp>
        <p:nvSpPr>
          <p:cNvPr id="9" name="Shape 7"/>
          <p:cNvSpPr/>
          <p:nvPr/>
        </p:nvSpPr>
        <p:spPr>
          <a:xfrm>
            <a:off x="4404767" y="1972270"/>
            <a:ext cx="0" cy="1858665"/>
          </a:xfrm>
          <a:prstGeom prst="line">
            <a:avLst/>
          </a:prstGeom>
          <a:noFill/>
          <a:ln w="38100">
            <a:solidFill>
              <a:srgbClr val="1F3A5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01617" y="2150070"/>
            <a:ext cx="3117621" cy="2234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300" b="1" dirty="0">
                <a:solidFill>
                  <a:srgbClr val="1F3A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API / Security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601617" y="2411661"/>
            <a:ext cx="3117621" cy="416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5B647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FastAPI, OpenAI-compatible endpoint, guardrail checkpoints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958634" y="1972270"/>
            <a:ext cx="3420566" cy="1858665"/>
          </a:xfrm>
          <a:prstGeom prst="roundRect">
            <a:avLst>
              <a:gd name="adj" fmla="val 4100"/>
            </a:avLst>
          </a:prstGeom>
          <a:solidFill>
            <a:srgbClr val="FFFFFF"/>
          </a:solidFill>
          <a:ln/>
        </p:spPr>
      </p:sp>
      <p:sp>
        <p:nvSpPr>
          <p:cNvPr id="13" name="Shape 11"/>
          <p:cNvSpPr/>
          <p:nvPr/>
        </p:nvSpPr>
        <p:spPr>
          <a:xfrm>
            <a:off x="7977684" y="1972270"/>
            <a:ext cx="0" cy="1858665"/>
          </a:xfrm>
          <a:prstGeom prst="line">
            <a:avLst/>
          </a:prstGeom>
          <a:noFill/>
          <a:ln w="38100">
            <a:solidFill>
              <a:srgbClr val="1F3A5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174534" y="2150070"/>
            <a:ext cx="3117672" cy="2234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300" b="1" dirty="0">
                <a:solidFill>
                  <a:srgbClr val="1F3A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AI Runtime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174534" y="2411661"/>
            <a:ext cx="3117672" cy="416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5B647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CrewAI agents orchestrating LlamaIndex query engines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12800" y="3983335"/>
            <a:ext cx="3420517" cy="1858665"/>
          </a:xfrm>
          <a:prstGeom prst="roundRect">
            <a:avLst>
              <a:gd name="adj" fmla="val 4100"/>
            </a:avLst>
          </a:prstGeom>
          <a:solidFill>
            <a:srgbClr val="FFFFFF"/>
          </a:solidFill>
          <a:ln/>
        </p:spPr>
      </p:sp>
      <p:sp>
        <p:nvSpPr>
          <p:cNvPr id="17" name="Shape 15"/>
          <p:cNvSpPr/>
          <p:nvPr/>
        </p:nvSpPr>
        <p:spPr>
          <a:xfrm>
            <a:off x="831850" y="3983335"/>
            <a:ext cx="0" cy="1858665"/>
          </a:xfrm>
          <a:prstGeom prst="line">
            <a:avLst/>
          </a:prstGeom>
          <a:noFill/>
          <a:ln w="38100">
            <a:solidFill>
              <a:srgbClr val="B08D5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28700" y="4161135"/>
            <a:ext cx="3117621" cy="2234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300" b="1" dirty="0">
                <a:solidFill>
                  <a:srgbClr val="1F3A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Knowledge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028700" y="4422725"/>
            <a:ext cx="3117621" cy="220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5B647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Docling ingestion + PostgreSQL / PGVector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385717" y="3983335"/>
            <a:ext cx="3420517" cy="1858665"/>
          </a:xfrm>
          <a:prstGeom prst="roundRect">
            <a:avLst>
              <a:gd name="adj" fmla="val 4100"/>
            </a:avLst>
          </a:prstGeom>
          <a:solidFill>
            <a:srgbClr val="FFFFFF"/>
          </a:solidFill>
          <a:ln/>
        </p:spPr>
      </p:sp>
      <p:sp>
        <p:nvSpPr>
          <p:cNvPr id="21" name="Shape 19"/>
          <p:cNvSpPr/>
          <p:nvPr/>
        </p:nvSpPr>
        <p:spPr>
          <a:xfrm>
            <a:off x="4404767" y="3983335"/>
            <a:ext cx="0" cy="1858665"/>
          </a:xfrm>
          <a:prstGeom prst="line">
            <a:avLst/>
          </a:prstGeom>
          <a:noFill/>
          <a:ln w="38100">
            <a:solidFill>
              <a:srgbClr val="B08D5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601617" y="4161135"/>
            <a:ext cx="3117621" cy="2234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300" b="1" dirty="0">
                <a:solidFill>
                  <a:srgbClr val="1F3A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Trust &amp; Governance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601617" y="4422725"/>
            <a:ext cx="3117621" cy="416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5B647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Guardrails, human-in-the-loop, hash-chain audit log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7958634" y="3983335"/>
            <a:ext cx="3420566" cy="1858665"/>
          </a:xfrm>
          <a:prstGeom prst="roundRect">
            <a:avLst>
              <a:gd name="adj" fmla="val 4100"/>
            </a:avLst>
          </a:prstGeom>
          <a:solidFill>
            <a:srgbClr val="FFFFFF"/>
          </a:solidFill>
          <a:ln/>
        </p:spPr>
      </p:sp>
      <p:sp>
        <p:nvSpPr>
          <p:cNvPr id="25" name="Shape 23"/>
          <p:cNvSpPr/>
          <p:nvPr/>
        </p:nvSpPr>
        <p:spPr>
          <a:xfrm>
            <a:off x="7977684" y="3983335"/>
            <a:ext cx="0" cy="1858665"/>
          </a:xfrm>
          <a:prstGeom prst="line">
            <a:avLst/>
          </a:prstGeom>
          <a:noFill/>
          <a:ln w="38100">
            <a:solidFill>
              <a:srgbClr val="B08D5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174534" y="4161135"/>
            <a:ext cx="3117672" cy="2234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300" b="1" dirty="0">
                <a:solidFill>
                  <a:srgbClr val="1F3A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Observability &amp; Learning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8174534" y="4422725"/>
            <a:ext cx="3117672" cy="220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5B647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Arize Phoenix, RAGAs, feedback loop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812800" y="6238280"/>
            <a:ext cx="72380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8A8F9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AegisRAG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10974536" y="6238280"/>
            <a:ext cx="45546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8A8F9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3 / 16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B08D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KNOWLEDGE PLANE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280120"/>
            <a:ext cx="10883392" cy="463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450"/>
              </a:lnSpc>
              <a:buNone/>
            </a:pPr>
            <a:r>
              <a:rPr lang="en-US" sz="3000" b="1" dirty="0">
                <a:solidFill>
                  <a:srgbClr val="1A2333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Ingestion — structure preserved, not flattened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15975" y="2085280"/>
            <a:ext cx="1824980" cy="824210"/>
          </a:xfrm>
          <a:prstGeom prst="roundRect">
            <a:avLst>
              <a:gd name="adj" fmla="val 11942"/>
            </a:avLst>
          </a:prstGeom>
          <a:solidFill>
            <a:srgbClr val="FFFFFF"/>
          </a:solidFill>
          <a:ln w="6350">
            <a:solidFill>
              <a:srgbClr val="E3E0D6"/>
            </a:solidFill>
            <a:prstDash val="solid"/>
          </a:ln>
        </p:spPr>
      </p:sp>
      <p:pic>
        <p:nvPicPr>
          <p:cNvPr id="5" name="Image 0" descr="Book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07790" y="2253555"/>
            <a:ext cx="241300" cy="2413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333252" y="2545655"/>
            <a:ext cx="790377" cy="220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00" b="1" dirty="0">
                <a:solidFill>
                  <a:srgbClr val="1A233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PDF corpus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2733030" y="2372916"/>
            <a:ext cx="22860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B08D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→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3002905" y="1975445"/>
            <a:ext cx="1825030" cy="1043880"/>
          </a:xfrm>
          <a:prstGeom prst="roundRect">
            <a:avLst>
              <a:gd name="adj" fmla="val 9429"/>
            </a:avLst>
          </a:prstGeom>
          <a:solidFill>
            <a:srgbClr val="FFFFFF"/>
          </a:solidFill>
          <a:ln w="6350">
            <a:solidFill>
              <a:srgbClr val="E3E0D6"/>
            </a:solidFill>
            <a:prstDash val="solid"/>
          </a:ln>
        </p:spPr>
      </p:sp>
      <p:pic>
        <p:nvPicPr>
          <p:cNvPr id="9" name="Image 1" descr="Search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794770" y="2143720"/>
            <a:ext cx="241300" cy="2413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3421658" y="2435820"/>
            <a:ext cx="987475" cy="220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00" b="1" dirty="0">
                <a:solidFill>
                  <a:srgbClr val="1A233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Docling parser</a:t>
            </a:r>
            <a:endParaRPr lang="en-US" sz="1100" dirty="0"/>
          </a:p>
        </p:txBody>
      </p:sp>
      <p:sp>
        <p:nvSpPr>
          <p:cNvPr id="11" name="Text 7"/>
          <p:cNvSpPr/>
          <p:nvPr/>
        </p:nvSpPr>
        <p:spPr>
          <a:xfrm>
            <a:off x="3249216" y="2682180"/>
            <a:ext cx="1332359" cy="1942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330"/>
              </a:lnSpc>
              <a:buNone/>
            </a:pPr>
            <a:r>
              <a:rPr lang="en-US" sz="950" dirty="0">
                <a:solidFill>
                  <a:srgbClr val="5B647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layout, tables, headings</a:t>
            </a:r>
            <a:endParaRPr lang="en-US" sz="950" dirty="0"/>
          </a:p>
        </p:txBody>
      </p:sp>
      <p:sp>
        <p:nvSpPr>
          <p:cNvPr id="12" name="Text 8"/>
          <p:cNvSpPr/>
          <p:nvPr/>
        </p:nvSpPr>
        <p:spPr>
          <a:xfrm>
            <a:off x="4920010" y="2372916"/>
            <a:ext cx="22860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B08D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→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5189885" y="1975445"/>
            <a:ext cx="1824980" cy="1043880"/>
          </a:xfrm>
          <a:prstGeom prst="roundRect">
            <a:avLst>
              <a:gd name="adj" fmla="val 9429"/>
            </a:avLst>
          </a:prstGeom>
          <a:solidFill>
            <a:srgbClr val="FFFFFF"/>
          </a:solidFill>
          <a:ln w="6350">
            <a:solidFill>
              <a:srgbClr val="E3E0D6"/>
            </a:solidFill>
            <a:prstDash val="solid"/>
          </a:ln>
        </p:spPr>
      </p:sp>
      <p:pic>
        <p:nvPicPr>
          <p:cNvPr id="14" name="Image 2" descr="Code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981700" y="2143720"/>
            <a:ext cx="241300" cy="24130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5580162" y="2435820"/>
            <a:ext cx="1044377" cy="220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00" b="1" dirty="0">
                <a:solidFill>
                  <a:srgbClr val="1A233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Hybrid chunker</a:t>
            </a:r>
            <a:endParaRPr lang="en-US" sz="1100" dirty="0"/>
          </a:p>
        </p:txBody>
      </p:sp>
      <p:sp>
        <p:nvSpPr>
          <p:cNvPr id="16" name="Text 11"/>
          <p:cNvSpPr/>
          <p:nvPr/>
        </p:nvSpPr>
        <p:spPr>
          <a:xfrm>
            <a:off x="5487392" y="2682180"/>
            <a:ext cx="1229916" cy="1942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330"/>
              </a:lnSpc>
              <a:buNone/>
            </a:pPr>
            <a:r>
              <a:rPr lang="en-US" sz="950" dirty="0">
                <a:solidFill>
                  <a:srgbClr val="5B647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structure + semantics</a:t>
            </a:r>
            <a:endParaRPr lang="en-US" sz="950" dirty="0"/>
          </a:p>
        </p:txBody>
      </p:sp>
      <p:sp>
        <p:nvSpPr>
          <p:cNvPr id="17" name="Text 12"/>
          <p:cNvSpPr/>
          <p:nvPr/>
        </p:nvSpPr>
        <p:spPr>
          <a:xfrm>
            <a:off x="7106940" y="2372916"/>
            <a:ext cx="22860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B08D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→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7376815" y="1975445"/>
            <a:ext cx="1824980" cy="1043880"/>
          </a:xfrm>
          <a:prstGeom prst="roundRect">
            <a:avLst>
              <a:gd name="adj" fmla="val 9429"/>
            </a:avLst>
          </a:prstGeom>
          <a:solidFill>
            <a:srgbClr val="FFFFFF"/>
          </a:solidFill>
          <a:ln w="6350">
            <a:solidFill>
              <a:srgbClr val="E3E0D6"/>
            </a:solidFill>
            <a:prstDash val="solid"/>
          </a:ln>
        </p:spPr>
      </p:sp>
      <p:pic>
        <p:nvPicPr>
          <p:cNvPr id="19" name="Image 3" descr="Lightni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8168630" y="2143720"/>
            <a:ext cx="241300" cy="241300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7618164" y="2435820"/>
            <a:ext cx="1342281" cy="220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00" b="1" dirty="0">
                <a:solidFill>
                  <a:srgbClr val="1A233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Ollama embeddings</a:t>
            </a:r>
            <a:endParaRPr lang="en-US" sz="1100" dirty="0"/>
          </a:p>
        </p:txBody>
      </p:sp>
      <p:sp>
        <p:nvSpPr>
          <p:cNvPr id="21" name="Text 15"/>
          <p:cNvSpPr/>
          <p:nvPr/>
        </p:nvSpPr>
        <p:spPr>
          <a:xfrm>
            <a:off x="7755037" y="2682180"/>
            <a:ext cx="1068487" cy="1942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330"/>
              </a:lnSpc>
              <a:buNone/>
            </a:pPr>
            <a:r>
              <a:rPr lang="en-US" sz="950" dirty="0">
                <a:solidFill>
                  <a:srgbClr val="5B647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nomic-embed-text</a:t>
            </a:r>
            <a:endParaRPr lang="en-US" sz="950" dirty="0"/>
          </a:p>
        </p:txBody>
      </p:sp>
      <p:sp>
        <p:nvSpPr>
          <p:cNvPr id="22" name="Text 16"/>
          <p:cNvSpPr/>
          <p:nvPr/>
        </p:nvSpPr>
        <p:spPr>
          <a:xfrm>
            <a:off x="9293870" y="2372916"/>
            <a:ext cx="22860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B08D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→</a:t>
            </a:r>
            <a:endParaRPr lang="en-US" sz="1400" dirty="0"/>
          </a:p>
        </p:txBody>
      </p:sp>
      <p:sp>
        <p:nvSpPr>
          <p:cNvPr id="23" name="Shape 17"/>
          <p:cNvSpPr/>
          <p:nvPr/>
        </p:nvSpPr>
        <p:spPr>
          <a:xfrm>
            <a:off x="9560570" y="2088455"/>
            <a:ext cx="1818630" cy="817860"/>
          </a:xfrm>
          <a:prstGeom prst="roundRect">
            <a:avLst>
              <a:gd name="adj" fmla="val 12423"/>
            </a:avLst>
          </a:prstGeom>
          <a:solidFill>
            <a:srgbClr val="1F3A5C"/>
          </a:solidFill>
          <a:ln/>
        </p:spPr>
      </p:sp>
      <p:pic>
        <p:nvPicPr>
          <p:cNvPr id="24" name="Image 4" descr="Database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10349210" y="2253555"/>
            <a:ext cx="241300" cy="241300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10142141" y="2545655"/>
            <a:ext cx="655489" cy="220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00" b="1" dirty="0">
                <a:solidFill>
                  <a:srgbClr val="FBFB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PGVector</a:t>
            </a:r>
            <a:endParaRPr lang="en-US" sz="1100" dirty="0"/>
          </a:p>
        </p:txBody>
      </p:sp>
      <p:sp>
        <p:nvSpPr>
          <p:cNvPr id="26" name="Shape 19"/>
          <p:cNvSpPr/>
          <p:nvPr/>
        </p:nvSpPr>
        <p:spPr>
          <a:xfrm>
            <a:off x="812800" y="3276501"/>
            <a:ext cx="2527300" cy="2565499"/>
          </a:xfrm>
          <a:prstGeom prst="roundRect">
            <a:avLst>
              <a:gd name="adj" fmla="val 4020"/>
            </a:avLst>
          </a:prstGeom>
          <a:solidFill>
            <a:srgbClr val="F0EFE9"/>
          </a:solidFill>
          <a:ln/>
        </p:spPr>
      </p:sp>
      <p:sp>
        <p:nvSpPr>
          <p:cNvPr id="27" name="Text 20"/>
          <p:cNvSpPr/>
          <p:nvPr/>
        </p:nvSpPr>
        <p:spPr>
          <a:xfrm>
            <a:off x="1832570" y="4151610"/>
            <a:ext cx="538510" cy="59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480"/>
              </a:lnSpc>
              <a:buNone/>
            </a:pPr>
            <a:r>
              <a:rPr lang="en-US" sz="3200" b="1" dirty="0">
                <a:solidFill>
                  <a:srgbClr val="1F3A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21</a:t>
            </a:r>
            <a:endParaRPr lang="en-US" sz="3200" dirty="0"/>
          </a:p>
        </p:txBody>
      </p:sp>
      <p:sp>
        <p:nvSpPr>
          <p:cNvPr id="28" name="Text 21"/>
          <p:cNvSpPr/>
          <p:nvPr/>
        </p:nvSpPr>
        <p:spPr>
          <a:xfrm>
            <a:off x="1631553" y="4771330"/>
            <a:ext cx="889744" cy="220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5B647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pages parsed</a:t>
            </a:r>
            <a:endParaRPr lang="en-US" sz="1100" dirty="0"/>
          </a:p>
        </p:txBody>
      </p:sp>
      <p:sp>
        <p:nvSpPr>
          <p:cNvPr id="29" name="Shape 22"/>
          <p:cNvSpPr/>
          <p:nvPr/>
        </p:nvSpPr>
        <p:spPr>
          <a:xfrm>
            <a:off x="3492500" y="3276501"/>
            <a:ext cx="2527300" cy="2565499"/>
          </a:xfrm>
          <a:prstGeom prst="roundRect">
            <a:avLst>
              <a:gd name="adj" fmla="val 4020"/>
            </a:avLst>
          </a:prstGeom>
          <a:solidFill>
            <a:srgbClr val="F0EFE9"/>
          </a:solidFill>
          <a:ln/>
        </p:spPr>
      </p:sp>
      <p:sp>
        <p:nvSpPr>
          <p:cNvPr id="30" name="Text 23"/>
          <p:cNvSpPr/>
          <p:nvPr/>
        </p:nvSpPr>
        <p:spPr>
          <a:xfrm>
            <a:off x="4512270" y="4151610"/>
            <a:ext cx="538510" cy="59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480"/>
              </a:lnSpc>
              <a:buNone/>
            </a:pPr>
            <a:r>
              <a:rPr lang="en-US" sz="3200" b="1" dirty="0">
                <a:solidFill>
                  <a:srgbClr val="1F3A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69</a:t>
            </a:r>
            <a:endParaRPr lang="en-US" sz="3200" dirty="0"/>
          </a:p>
        </p:txBody>
      </p:sp>
      <p:sp>
        <p:nvSpPr>
          <p:cNvPr id="31" name="Text 24"/>
          <p:cNvSpPr/>
          <p:nvPr/>
        </p:nvSpPr>
        <p:spPr>
          <a:xfrm>
            <a:off x="4241354" y="4771330"/>
            <a:ext cx="1029543" cy="220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5B647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chunks indexed</a:t>
            </a:r>
            <a:endParaRPr lang="en-US" sz="1100" dirty="0"/>
          </a:p>
        </p:txBody>
      </p:sp>
      <p:sp>
        <p:nvSpPr>
          <p:cNvPr id="32" name="Shape 25"/>
          <p:cNvSpPr/>
          <p:nvPr/>
        </p:nvSpPr>
        <p:spPr>
          <a:xfrm>
            <a:off x="6172200" y="3276501"/>
            <a:ext cx="2527300" cy="2565499"/>
          </a:xfrm>
          <a:prstGeom prst="roundRect">
            <a:avLst>
              <a:gd name="adj" fmla="val 4020"/>
            </a:avLst>
          </a:prstGeom>
          <a:solidFill>
            <a:srgbClr val="F0EFE9"/>
          </a:solidFill>
          <a:ln/>
        </p:spPr>
      </p:sp>
      <p:sp>
        <p:nvSpPr>
          <p:cNvPr id="33" name="Text 26"/>
          <p:cNvSpPr/>
          <p:nvPr/>
        </p:nvSpPr>
        <p:spPr>
          <a:xfrm>
            <a:off x="7090569" y="4151610"/>
            <a:ext cx="741313" cy="59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480"/>
              </a:lnSpc>
              <a:buNone/>
            </a:pPr>
            <a:r>
              <a:rPr lang="en-US" sz="3200" b="1" dirty="0">
                <a:solidFill>
                  <a:srgbClr val="1F3A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36s</a:t>
            </a:r>
            <a:endParaRPr lang="en-US" sz="3200" dirty="0"/>
          </a:p>
        </p:txBody>
      </p:sp>
      <p:sp>
        <p:nvSpPr>
          <p:cNvPr id="34" name="Text 27"/>
          <p:cNvSpPr/>
          <p:nvPr/>
        </p:nvSpPr>
        <p:spPr>
          <a:xfrm>
            <a:off x="6966396" y="4771330"/>
            <a:ext cx="938907" cy="220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5B647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ingestion time</a:t>
            </a:r>
            <a:endParaRPr lang="en-US" sz="1100" dirty="0"/>
          </a:p>
        </p:txBody>
      </p:sp>
      <p:sp>
        <p:nvSpPr>
          <p:cNvPr id="35" name="Shape 28"/>
          <p:cNvSpPr/>
          <p:nvPr/>
        </p:nvSpPr>
        <p:spPr>
          <a:xfrm>
            <a:off x="8851900" y="3276501"/>
            <a:ext cx="2527300" cy="2565499"/>
          </a:xfrm>
          <a:prstGeom prst="roundRect">
            <a:avLst>
              <a:gd name="adj" fmla="val 4020"/>
            </a:avLst>
          </a:prstGeom>
          <a:solidFill>
            <a:srgbClr val="F0EFE9"/>
          </a:solidFill>
          <a:ln/>
        </p:spPr>
      </p:sp>
      <p:sp>
        <p:nvSpPr>
          <p:cNvPr id="36" name="Text 29"/>
          <p:cNvSpPr/>
          <p:nvPr/>
        </p:nvSpPr>
        <p:spPr>
          <a:xfrm>
            <a:off x="9993610" y="4151610"/>
            <a:ext cx="294680" cy="59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480"/>
              </a:lnSpc>
              <a:buNone/>
            </a:pPr>
            <a:r>
              <a:rPr lang="en-US" sz="3200" b="1" dirty="0">
                <a:solidFill>
                  <a:srgbClr val="1F3A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</a:t>
            </a:r>
            <a:endParaRPr lang="en-US" sz="3200" dirty="0"/>
          </a:p>
        </p:txBody>
      </p:sp>
      <p:sp>
        <p:nvSpPr>
          <p:cNvPr id="37" name="Text 30"/>
          <p:cNvSpPr/>
          <p:nvPr/>
        </p:nvSpPr>
        <p:spPr>
          <a:xfrm>
            <a:off x="9579719" y="4771330"/>
            <a:ext cx="1071612" cy="220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5B647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cost to re-ingest</a:t>
            </a:r>
            <a:endParaRPr lang="en-US" sz="1100" dirty="0"/>
          </a:p>
        </p:txBody>
      </p:sp>
      <p:sp>
        <p:nvSpPr>
          <p:cNvPr id="38" name="Text 31"/>
          <p:cNvSpPr/>
          <p:nvPr/>
        </p:nvSpPr>
        <p:spPr>
          <a:xfrm>
            <a:off x="812800" y="6238280"/>
            <a:ext cx="72380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8A8F9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AegisRAG</a:t>
            </a:r>
            <a:endParaRPr lang="en-US" sz="1200" dirty="0"/>
          </a:p>
        </p:txBody>
      </p:sp>
      <p:sp>
        <p:nvSpPr>
          <p:cNvPr id="39" name="Text 32"/>
          <p:cNvSpPr/>
          <p:nvPr/>
        </p:nvSpPr>
        <p:spPr>
          <a:xfrm>
            <a:off x="10974536" y="6238280"/>
            <a:ext cx="45546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8A8F9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4 / 16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EF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B08D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AI RUNTIME PLANE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254720"/>
            <a:ext cx="10883392" cy="463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450"/>
              </a:lnSpc>
              <a:buNone/>
            </a:pPr>
            <a:r>
              <a:rPr lang="en-US" sz="3000" b="1" dirty="0">
                <a:solidFill>
                  <a:srgbClr val="1A2333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Five agents, not fifteen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12800" y="1921470"/>
            <a:ext cx="2032000" cy="910580"/>
          </a:xfrm>
          <a:prstGeom prst="roundRect">
            <a:avLst>
              <a:gd name="adj" fmla="val 11158"/>
            </a:avLst>
          </a:prstGeom>
          <a:solidFill>
            <a:srgbClr val="FFFFFF"/>
          </a:solidFill>
          <a:ln/>
        </p:spPr>
      </p:sp>
      <p:sp>
        <p:nvSpPr>
          <p:cNvPr id="5" name="Text 3"/>
          <p:cNvSpPr/>
          <p:nvPr/>
        </p:nvSpPr>
        <p:spPr>
          <a:xfrm>
            <a:off x="965200" y="2073870"/>
            <a:ext cx="1779016" cy="212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70"/>
              </a:lnSpc>
              <a:buNone/>
            </a:pPr>
            <a:r>
              <a:rPr lang="en-US" sz="1050" b="1" dirty="0">
                <a:solidFill>
                  <a:srgbClr val="B08D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 · Planner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965200" y="2324050"/>
            <a:ext cx="177901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5B647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Classifies intent, decomposes the question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946400" y="1921470"/>
            <a:ext cx="2032000" cy="910580"/>
          </a:xfrm>
          <a:prstGeom prst="roundRect">
            <a:avLst>
              <a:gd name="adj" fmla="val 11158"/>
            </a:avLst>
          </a:prstGeom>
          <a:solidFill>
            <a:srgbClr val="FFFFFF"/>
          </a:solidFill>
          <a:ln/>
        </p:spPr>
      </p:sp>
      <p:sp>
        <p:nvSpPr>
          <p:cNvPr id="8" name="Text 6"/>
          <p:cNvSpPr/>
          <p:nvPr/>
        </p:nvSpPr>
        <p:spPr>
          <a:xfrm>
            <a:off x="3098800" y="2073870"/>
            <a:ext cx="1779016" cy="212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70"/>
              </a:lnSpc>
              <a:buNone/>
            </a:pPr>
            <a:r>
              <a:rPr lang="en-US" sz="1050" b="1" dirty="0">
                <a:solidFill>
                  <a:srgbClr val="B08D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 · Retrieval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3098800" y="2324050"/>
            <a:ext cx="177901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5B647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Hybrid search: PGVector + lexical, RRF-fused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080000" y="1921470"/>
            <a:ext cx="2032000" cy="910580"/>
          </a:xfrm>
          <a:prstGeom prst="roundRect">
            <a:avLst>
              <a:gd name="adj" fmla="val 11158"/>
            </a:avLst>
          </a:prstGeom>
          <a:solidFill>
            <a:srgbClr val="FFFFFF"/>
          </a:solidFill>
          <a:ln/>
        </p:spPr>
      </p:sp>
      <p:sp>
        <p:nvSpPr>
          <p:cNvPr id="11" name="Text 9"/>
          <p:cNvSpPr/>
          <p:nvPr/>
        </p:nvSpPr>
        <p:spPr>
          <a:xfrm>
            <a:off x="5232400" y="2073870"/>
            <a:ext cx="1779016" cy="212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70"/>
              </a:lnSpc>
              <a:buNone/>
            </a:pPr>
            <a:r>
              <a:rPr lang="en-US" sz="1050" b="1" dirty="0">
                <a:solidFill>
                  <a:srgbClr val="B08D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3 · Evidence Validator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232400" y="2324050"/>
            <a:ext cx="177901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5B647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Supported, partial, contradictory or insufficient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213600" y="1921470"/>
            <a:ext cx="2032000" cy="910580"/>
          </a:xfrm>
          <a:prstGeom prst="roundRect">
            <a:avLst>
              <a:gd name="adj" fmla="val 11158"/>
            </a:avLst>
          </a:prstGeom>
          <a:solidFill>
            <a:srgbClr val="FFFFFF"/>
          </a:solidFill>
          <a:ln/>
        </p:spPr>
      </p:sp>
      <p:sp>
        <p:nvSpPr>
          <p:cNvPr id="14" name="Text 12"/>
          <p:cNvSpPr/>
          <p:nvPr/>
        </p:nvSpPr>
        <p:spPr>
          <a:xfrm>
            <a:off x="7366000" y="2073870"/>
            <a:ext cx="1779016" cy="212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70"/>
              </a:lnSpc>
              <a:buNone/>
            </a:pPr>
            <a:r>
              <a:rPr lang="en-US" sz="1050" b="1" dirty="0">
                <a:solidFill>
                  <a:srgbClr val="B08D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4 · Synthesis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366000" y="2324050"/>
            <a:ext cx="177901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5B647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Writes from approved evidence only, cited inline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9347200" y="1921470"/>
            <a:ext cx="2032000" cy="910580"/>
          </a:xfrm>
          <a:prstGeom prst="roundRect">
            <a:avLst>
              <a:gd name="adj" fmla="val 11158"/>
            </a:avLst>
          </a:prstGeom>
          <a:solidFill>
            <a:srgbClr val="FFFFFF"/>
          </a:solidFill>
          <a:ln/>
        </p:spPr>
      </p:sp>
      <p:sp>
        <p:nvSpPr>
          <p:cNvPr id="17" name="Text 15"/>
          <p:cNvSpPr/>
          <p:nvPr/>
        </p:nvSpPr>
        <p:spPr>
          <a:xfrm>
            <a:off x="9499600" y="2073870"/>
            <a:ext cx="1779016" cy="212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70"/>
              </a:lnSpc>
              <a:buNone/>
            </a:pPr>
            <a:r>
              <a:rPr lang="en-US" sz="1050" b="1" dirty="0">
                <a:solidFill>
                  <a:srgbClr val="B08D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5 · Citation &amp; Quality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9499600" y="2324050"/>
            <a:ext cx="177901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5B647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Checks claims, scores confidence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812800" y="3060650"/>
            <a:ext cx="5826522" cy="2781350"/>
          </a:xfrm>
          <a:prstGeom prst="roundRect">
            <a:avLst>
              <a:gd name="adj" fmla="val 3653"/>
            </a:avLst>
          </a:prstGeom>
          <a:solidFill>
            <a:srgbClr val="1F3A5C"/>
          </a:solidFill>
          <a:ln/>
        </p:spPr>
      </p:sp>
      <p:sp>
        <p:nvSpPr>
          <p:cNvPr id="20" name="Text 18"/>
          <p:cNvSpPr/>
          <p:nvPr/>
        </p:nvSpPr>
        <p:spPr>
          <a:xfrm>
            <a:off x="1041400" y="4090640"/>
            <a:ext cx="553040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FBFB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loop is bounded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041400" y="4392861"/>
            <a:ext cx="553040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D9E1E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Insufficient evidence sends the Retrieval agent back with a reformulated query — up to 2 retries, then the run stops rather than guessing.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791722" y="3060650"/>
            <a:ext cx="4587478" cy="2781350"/>
          </a:xfrm>
          <a:prstGeom prst="roundRect">
            <a:avLst>
              <a:gd name="adj" fmla="val 3653"/>
            </a:avLst>
          </a:prstGeom>
          <a:solidFill>
            <a:srgbClr val="FFFFFF"/>
          </a:solidFill>
          <a:ln/>
        </p:spPr>
      </p:sp>
      <p:sp>
        <p:nvSpPr>
          <p:cNvPr id="23" name="Text 21"/>
          <p:cNvSpPr/>
          <p:nvPr/>
        </p:nvSpPr>
        <p:spPr>
          <a:xfrm>
            <a:off x="7020322" y="4081760"/>
            <a:ext cx="4254186" cy="220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5B647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confidence ≥ 0.85 → answer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020322" y="4353520"/>
            <a:ext cx="4254186" cy="220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5B647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0.60 – 0.85 → answer + caveat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7020322" y="4625280"/>
            <a:ext cx="4254186" cy="220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5B647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&lt; 0.60 → abstain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812800" y="6238280"/>
            <a:ext cx="72380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8A8F9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AegisRAG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10974536" y="6238280"/>
            <a:ext cx="45546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8A8F9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5 / 16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B08D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VERIFIED, NOT SIMULATED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254720"/>
            <a:ext cx="10883392" cy="463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450"/>
              </a:lnSpc>
              <a:buNone/>
            </a:pPr>
            <a:r>
              <a:rPr lang="en-US" sz="3000" b="1" dirty="0">
                <a:solidFill>
                  <a:srgbClr val="1A2333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A real question, through the real pipeline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15975" y="1924645"/>
            <a:ext cx="6234658" cy="3914180"/>
          </a:xfrm>
          <a:prstGeom prst="roundRect">
            <a:avLst>
              <a:gd name="adj" fmla="val 2515"/>
            </a:avLst>
          </a:prstGeom>
          <a:solidFill>
            <a:srgbClr val="FFFFFF"/>
          </a:solidFill>
          <a:ln w="6350">
            <a:solidFill>
              <a:srgbClr val="E3E0D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47750" y="2156420"/>
            <a:ext cx="5944241" cy="229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10"/>
              </a:lnSpc>
              <a:buNone/>
            </a:pPr>
            <a:r>
              <a:rPr lang="en-US" sz="1150" b="1" dirty="0">
                <a:solidFill>
                  <a:srgbClr val="1F3A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"What is ethical AI?" — asked live in OpenWebUI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1047750" y="2462461"/>
            <a:ext cx="5944241" cy="8913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05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"Ethical AI involves ensuring that AI systems do not harm humans or other morally relevant beings... A being has moral status if it counts morally in its own right [EthicsofAI.pdf, p.6]... AI must consider responsibility, transparency, auditability, incorruptibility and predictability [EthicsofAI.pdf, p.3]."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257008" y="1921470"/>
            <a:ext cx="4122192" cy="1052810"/>
          </a:xfrm>
          <a:prstGeom prst="roundRect">
            <a:avLst>
              <a:gd name="adj" fmla="val 9650"/>
            </a:avLst>
          </a:prstGeom>
          <a:solidFill>
            <a:srgbClr val="1F3A5C"/>
          </a:solidFill>
          <a:ln/>
        </p:spPr>
      </p:sp>
      <p:sp>
        <p:nvSpPr>
          <p:cNvPr id="8" name="Text 6"/>
          <p:cNvSpPr/>
          <p:nvPr/>
        </p:nvSpPr>
        <p:spPr>
          <a:xfrm>
            <a:off x="8944918" y="2086570"/>
            <a:ext cx="797173" cy="523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20"/>
              </a:lnSpc>
              <a:buNone/>
            </a:pPr>
            <a:r>
              <a:rPr lang="en-US" sz="2800" b="1" dirty="0">
                <a:solidFill>
                  <a:srgbClr val="FBFB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1.00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8426119" y="2622500"/>
            <a:ext cx="1783921" cy="212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470"/>
              </a:lnSpc>
              <a:buNone/>
            </a:pPr>
            <a:r>
              <a:rPr lang="en-US" sz="1050" dirty="0">
                <a:solidFill>
                  <a:srgbClr val="D9E1E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confidence — auto-answered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7257008" y="3101280"/>
            <a:ext cx="4122192" cy="2740720"/>
          </a:xfrm>
          <a:prstGeom prst="roundRect">
            <a:avLst>
              <a:gd name="adj" fmla="val 3707"/>
            </a:avLst>
          </a:prstGeom>
          <a:solidFill>
            <a:srgbClr val="F0EFE9"/>
          </a:solidFill>
          <a:ln/>
        </p:spPr>
      </p:sp>
      <p:sp>
        <p:nvSpPr>
          <p:cNvPr id="11" name="Text 9"/>
          <p:cNvSpPr/>
          <p:nvPr/>
        </p:nvSpPr>
        <p:spPr>
          <a:xfrm>
            <a:off x="7434808" y="3279080"/>
            <a:ext cx="3879590" cy="1930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320"/>
              </a:lnSpc>
              <a:buNone/>
            </a:pPr>
            <a:r>
              <a:rPr lang="en-US" sz="1100" b="1" dirty="0">
                <a:solidFill>
                  <a:srgbClr val="1A233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Sources returned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434808" y="3510211"/>
            <a:ext cx="387959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5B647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EthicsofAI.pdf, p.6 — Machines with Moral Status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434808" y="3751511"/>
            <a:ext cx="387959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5B647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EthicsofAI.pdf, p.1 — The Ethics of AI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434808" y="3992811"/>
            <a:ext cx="387959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5B647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EthicsofAI.pdf, p.2–3 — Ethics in Machine Learning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12800" y="6238280"/>
            <a:ext cx="72380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8A8F9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AegisRAG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0974536" y="6238280"/>
            <a:ext cx="45546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8A8F9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6 / 16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23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C9A86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TRUST &amp; GOVERNANCE PLANE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280120"/>
            <a:ext cx="10883392" cy="463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450"/>
              </a:lnSpc>
              <a:buNone/>
            </a:pPr>
            <a:r>
              <a:rPr lang="en-US" sz="3000" b="1" dirty="0">
                <a:solidFill>
                  <a:srgbClr val="FBFBF8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What "Aegis" actually delivers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12800" y="1972270"/>
            <a:ext cx="3420517" cy="3869730"/>
          </a:xfrm>
          <a:prstGeom prst="roundRect">
            <a:avLst>
              <a:gd name="adj" fmla="val 2970"/>
            </a:avLst>
          </a:prstGeom>
          <a:solidFill>
            <a:srgbClr val="243248"/>
          </a:solidFill>
          <a:ln/>
        </p:spPr>
      </p:sp>
      <p:pic>
        <p:nvPicPr>
          <p:cNvPr id="5" name="Image 0" descr="Lock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16000" y="2175470"/>
            <a:ext cx="228600" cy="2286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16000" y="2492970"/>
            <a:ext cx="3104540" cy="2234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300" b="1" dirty="0">
                <a:solidFill>
                  <a:srgbClr val="FBFB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Guardrails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1016000" y="2779961"/>
            <a:ext cx="3104540" cy="863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BFC8D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Input, retrieval-content and output checkpoints. Document text is data, never instructions — tested against prompt-injection patterns.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385717" y="1972270"/>
            <a:ext cx="3420566" cy="3869730"/>
          </a:xfrm>
          <a:prstGeom prst="roundRect">
            <a:avLst>
              <a:gd name="adj" fmla="val 2970"/>
            </a:avLst>
          </a:prstGeom>
          <a:solidFill>
            <a:srgbClr val="243248"/>
          </a:solidFill>
          <a:ln/>
        </p:spPr>
      </p:sp>
      <p:pic>
        <p:nvPicPr>
          <p:cNvPr id="9" name="Image 1" descr="Users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588917" y="2175470"/>
            <a:ext cx="228600" cy="2286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4588917" y="2492970"/>
            <a:ext cx="3104591" cy="2234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300" b="1" dirty="0">
                <a:solidFill>
                  <a:srgbClr val="FBFB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Human-in-the-loop</a:t>
            </a:r>
            <a:endParaRPr lang="en-US" sz="1300" dirty="0"/>
          </a:p>
        </p:txBody>
      </p:sp>
      <p:sp>
        <p:nvSpPr>
          <p:cNvPr id="11" name="Text 7"/>
          <p:cNvSpPr/>
          <p:nvPr/>
        </p:nvSpPr>
        <p:spPr>
          <a:xfrm>
            <a:off x="4588917" y="2779961"/>
            <a:ext cx="3104591" cy="654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BFC8D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Risk-based escalation — low-risk answers flow automatically, high-risk or conflicting evidence routes to review.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7958683" y="1972270"/>
            <a:ext cx="3420517" cy="3869730"/>
          </a:xfrm>
          <a:prstGeom prst="roundRect">
            <a:avLst>
              <a:gd name="adj" fmla="val 2970"/>
            </a:avLst>
          </a:prstGeom>
          <a:solidFill>
            <a:srgbClr val="243248"/>
          </a:solidFill>
          <a:ln/>
        </p:spPr>
      </p:sp>
      <p:pic>
        <p:nvPicPr>
          <p:cNvPr id="13" name="Image 2" descr="Key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161883" y="2175470"/>
            <a:ext cx="228600" cy="22860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8161883" y="2492970"/>
            <a:ext cx="3104540" cy="2234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300" b="1" dirty="0">
                <a:solidFill>
                  <a:srgbClr val="FBFB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Hash-chain audit log</a:t>
            </a:r>
            <a:endParaRPr lang="en-US" sz="1300" dirty="0"/>
          </a:p>
        </p:txBody>
      </p:sp>
      <p:sp>
        <p:nvSpPr>
          <p:cNvPr id="15" name="Text 10"/>
          <p:cNvSpPr/>
          <p:nvPr/>
        </p:nvSpPr>
        <p:spPr>
          <a:xfrm>
            <a:off x="8161883" y="2779961"/>
            <a:ext cx="3104540" cy="654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BFC8D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Every agent decision, SHA-256 linked. Tamper-detection integration-tested: an altered row is caught immediately.</a:t>
            </a:r>
            <a:endParaRPr lang="en-US" sz="1100" dirty="0"/>
          </a:p>
        </p:txBody>
      </p:sp>
      <p:sp>
        <p:nvSpPr>
          <p:cNvPr id="16" name="Text 11"/>
          <p:cNvSpPr/>
          <p:nvPr/>
        </p:nvSpPr>
        <p:spPr>
          <a:xfrm>
            <a:off x="812800" y="6238280"/>
            <a:ext cx="72380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8A93A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AegisRAG</a:t>
            </a:r>
            <a:endParaRPr lang="en-US" sz="1200" dirty="0"/>
          </a:p>
        </p:txBody>
      </p:sp>
      <p:sp>
        <p:nvSpPr>
          <p:cNvPr id="17" name="Text 12"/>
          <p:cNvSpPr/>
          <p:nvPr/>
        </p:nvSpPr>
        <p:spPr>
          <a:xfrm>
            <a:off x="10974536" y="6238280"/>
            <a:ext cx="45546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8A93A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7 / 16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B08D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OBSERVABILITY &amp; LEARNING PLANE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280120"/>
            <a:ext cx="10883392" cy="463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450"/>
              </a:lnSpc>
              <a:buNone/>
            </a:pPr>
            <a:r>
              <a:rPr lang="en-US" sz="3000" b="1" dirty="0">
                <a:solidFill>
                  <a:srgbClr val="1A2333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Every inference call, traced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15975" y="1975445"/>
            <a:ext cx="5181600" cy="3863380"/>
          </a:xfrm>
          <a:prstGeom prst="roundRect">
            <a:avLst>
              <a:gd name="adj" fmla="val 2548"/>
            </a:avLst>
          </a:prstGeom>
          <a:solidFill>
            <a:srgbClr val="FFFFFF"/>
          </a:solidFill>
          <a:ln w="6350">
            <a:solidFill>
              <a:srgbClr val="E3E0D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22350" y="2181820"/>
            <a:ext cx="4911916" cy="2234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300" b="1" dirty="0">
                <a:solidFill>
                  <a:srgbClr val="1F3A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Verified in Arize Phoenix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22350" y="2468811"/>
            <a:ext cx="4911916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5B647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One trace per request, spanning: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022350" y="2767261"/>
            <a:ext cx="4911916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1A233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• 4 LLM completion spans — planner, evidence validator, synthesis, citation &amp; quality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022350" y="3275261"/>
            <a:ext cx="4911916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1A233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• 2 embedding spans, 2 retriever spans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203950" y="1972270"/>
            <a:ext cx="5175250" cy="3869730"/>
          </a:xfrm>
          <a:prstGeom prst="roundRect">
            <a:avLst>
              <a:gd name="adj" fmla="val 2626"/>
            </a:avLst>
          </a:prstGeom>
          <a:solidFill>
            <a:srgbClr val="F0EFE9"/>
          </a:solidFill>
          <a:ln/>
        </p:spPr>
      </p:sp>
      <p:sp>
        <p:nvSpPr>
          <p:cNvPr id="10" name="Text 8"/>
          <p:cNvSpPr/>
          <p:nvPr/>
        </p:nvSpPr>
        <p:spPr>
          <a:xfrm>
            <a:off x="6407150" y="3403005"/>
            <a:ext cx="4911916" cy="472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60"/>
              </a:lnSpc>
              <a:buNone/>
            </a:pPr>
            <a:r>
              <a:rPr lang="en-US" sz="1100" dirty="0">
                <a:solidFill>
                  <a:srgbClr val="5B647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Every span carries the model, prompt version and latency — a bad answer is root-caused from the trace, not guessed at.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07150" y="3964285"/>
            <a:ext cx="4911916" cy="472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60"/>
              </a:lnSpc>
              <a:buNone/>
            </a:pPr>
            <a:r>
              <a:rPr lang="en-US" sz="1100" dirty="0">
                <a:solidFill>
                  <a:srgbClr val="5B647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Prompts are externalized and versioned (</a:t>
            </a:r>
            <a:r>
              <a:rPr lang="en-US" sz="1100" b="1" dirty="0">
                <a:solidFill>
                  <a:srgbClr val="5B647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/prompts/*.yaml</a:t>
            </a:r>
            <a:r>
              <a:rPr lang="en-US" sz="1100" dirty="0">
                <a:solidFill>
                  <a:srgbClr val="5B647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) — every trace records exactly which version ran.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12800" y="6238280"/>
            <a:ext cx="72380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8A8F9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AegisRAG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0974536" y="6238280"/>
            <a:ext cx="45546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8A8F9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8 / 16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0EF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B08D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OBSERVABILITY &amp; LEARNING PLANE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280120"/>
            <a:ext cx="10883392" cy="463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450"/>
              </a:lnSpc>
              <a:buNone/>
            </a:pPr>
            <a:r>
              <a:rPr lang="en-US" sz="3000" b="1" dirty="0">
                <a:solidFill>
                  <a:srgbClr val="1A2333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Quality is measured, not assumed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12800" y="1972270"/>
            <a:ext cx="2565400" cy="518120"/>
          </a:xfrm>
          <a:prstGeom prst="roundRect">
            <a:avLst>
              <a:gd name="adj" fmla="val 19609"/>
            </a:avLst>
          </a:prstGeom>
          <a:solidFill>
            <a:srgbClr val="FFFFFF"/>
          </a:solidFill>
          <a:ln/>
        </p:spPr>
      </p:sp>
      <p:sp>
        <p:nvSpPr>
          <p:cNvPr id="5" name="Text 3"/>
          <p:cNvSpPr/>
          <p:nvPr/>
        </p:nvSpPr>
        <p:spPr>
          <a:xfrm>
            <a:off x="1635621" y="2124670"/>
            <a:ext cx="91975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1F3A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Faithfulness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479800" y="1972270"/>
            <a:ext cx="2565400" cy="518120"/>
          </a:xfrm>
          <a:prstGeom prst="roundRect">
            <a:avLst>
              <a:gd name="adj" fmla="val 19609"/>
            </a:avLst>
          </a:prstGeom>
          <a:solidFill>
            <a:srgbClr val="FFFFFF"/>
          </a:solidFill>
          <a:ln/>
        </p:spPr>
      </p:sp>
      <p:sp>
        <p:nvSpPr>
          <p:cNvPr id="7" name="Text 5"/>
          <p:cNvSpPr/>
          <p:nvPr/>
        </p:nvSpPr>
        <p:spPr>
          <a:xfrm>
            <a:off x="4109591" y="2124670"/>
            <a:ext cx="130576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1F3A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Answer relevancy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146800" y="1972270"/>
            <a:ext cx="2565400" cy="518120"/>
          </a:xfrm>
          <a:prstGeom prst="roundRect">
            <a:avLst>
              <a:gd name="adj" fmla="val 19609"/>
            </a:avLst>
          </a:prstGeom>
          <a:solidFill>
            <a:srgbClr val="FFFFFF"/>
          </a:solidFill>
          <a:ln/>
        </p:spPr>
      </p:sp>
      <p:sp>
        <p:nvSpPr>
          <p:cNvPr id="9" name="Text 7"/>
          <p:cNvSpPr/>
          <p:nvPr/>
        </p:nvSpPr>
        <p:spPr>
          <a:xfrm>
            <a:off x="6785421" y="2124670"/>
            <a:ext cx="1288107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1F3A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Context precision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813800" y="1972270"/>
            <a:ext cx="2565400" cy="518120"/>
          </a:xfrm>
          <a:prstGeom prst="roundRect">
            <a:avLst>
              <a:gd name="adj" fmla="val 19609"/>
            </a:avLst>
          </a:prstGeom>
          <a:solidFill>
            <a:srgbClr val="FFFFFF"/>
          </a:solidFill>
          <a:ln/>
        </p:spPr>
      </p:sp>
      <p:sp>
        <p:nvSpPr>
          <p:cNvPr id="11" name="Text 9"/>
          <p:cNvSpPr/>
          <p:nvPr/>
        </p:nvSpPr>
        <p:spPr>
          <a:xfrm>
            <a:off x="9578975" y="2124670"/>
            <a:ext cx="10350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1F3A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Context recall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12800" y="2744391"/>
            <a:ext cx="5181600" cy="3097609"/>
          </a:xfrm>
          <a:prstGeom prst="roundRect">
            <a:avLst>
              <a:gd name="adj" fmla="val 3280"/>
            </a:avLst>
          </a:prstGeom>
          <a:solidFill>
            <a:srgbClr val="FFFFFF"/>
          </a:solidFill>
          <a:ln/>
        </p:spPr>
      </p:sp>
      <p:sp>
        <p:nvSpPr>
          <p:cNvPr id="13" name="Text 11"/>
          <p:cNvSpPr/>
          <p:nvPr/>
        </p:nvSpPr>
        <p:spPr>
          <a:xfrm>
            <a:off x="1016000" y="2947591"/>
            <a:ext cx="4918456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1A233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Golden set, real corpus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1016000" y="3214291"/>
            <a:ext cx="4918456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5B647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Factual and deliberately unanswerable questions — an unanswerable question should abstain, not guess.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197600" y="2744391"/>
            <a:ext cx="5181600" cy="3097609"/>
          </a:xfrm>
          <a:prstGeom prst="roundRect">
            <a:avLst>
              <a:gd name="adj" fmla="val 3280"/>
            </a:avLst>
          </a:prstGeom>
          <a:solidFill>
            <a:srgbClr val="1F3A5C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0" y="2947591"/>
            <a:ext cx="4918456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FBFB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Baseline &amp; regression gate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6400800" y="3214291"/>
            <a:ext cx="4918456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D9E1E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First run sets the baseline; every later run compares against it — a drop flags a regression instead of shipping silently.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12800" y="6238280"/>
            <a:ext cx="72380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8A8F9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AegisRAG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0974536" y="6238280"/>
            <a:ext cx="45546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8A8F9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9 / 16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B08D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ENGINEERING JUDGMENT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254720"/>
            <a:ext cx="10883392" cy="463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450"/>
              </a:lnSpc>
              <a:buNone/>
            </a:pPr>
            <a:r>
              <a:rPr lang="en-US" sz="3000" b="1" dirty="0">
                <a:solidFill>
                  <a:srgbClr val="1A2333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Same brief, different engineering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921470"/>
          <a:ext cx="10566400" cy="3907830"/>
        </p:xfrm>
        <a:graphic>
          <a:graphicData uri="http://schemas.openxmlformats.org/drawingml/2006/table">
            <a:tbl>
              <a:tblPr/>
              <a:tblGrid>
                <a:gridCol w="2747264"/>
                <a:gridCol w="3909568"/>
                <a:gridCol w="3909568"/>
              </a:tblGrid>
              <a:tr h="651272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BFB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Dimension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B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B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B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B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BFB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Fresher approach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B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B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B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B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BFB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This build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B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B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B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B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C"/>
                    </a:solidFill>
                  </a:tcPr>
                </a:tc>
              </a:tr>
              <a:tr h="651272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A2333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Chunking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B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B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B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B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5B647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Fixed-size, no structure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B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B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B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B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A2333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Docling layout-aware, section-tagged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B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B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B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B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1321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A2333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Retrieval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B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B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B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B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F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5B647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Single vector search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B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B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B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B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F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A2333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Hybrid + bounded self-correction loop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B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B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B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B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FE9"/>
                    </a:solidFill>
                  </a:tcPr>
                </a:tc>
              </a:tr>
              <a:tr h="651321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A2333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Trust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B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B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B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B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5B647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Answer confidently, always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B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B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B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B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A2333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Confidence-gated: answer, caveat or abstain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B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B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B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B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1321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A2333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Observability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B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B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B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B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F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5B647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print() statements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B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B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B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B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F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A2333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Full OTel trace per agent hop, in Phoenix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B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B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B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B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FE9"/>
                    </a:solidFill>
                  </a:tcPr>
                </a:tc>
              </a:tr>
              <a:tr h="651321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A2333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Evidence of quality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B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B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B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B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5B647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Eyeballing a few answers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B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B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B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B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A2333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RAGAs golden set + regression baseline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B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B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B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B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812800" y="6238280"/>
            <a:ext cx="72380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8A8F9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AegisRAG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10883106" y="6238280"/>
            <a:ext cx="54689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8A8F9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10 / 16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0EF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B08D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STATED PLAINLY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254720"/>
            <a:ext cx="10883392" cy="4343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220"/>
              </a:lnSpc>
              <a:buNone/>
            </a:pPr>
            <a:r>
              <a:rPr lang="en-US" sz="2800" b="1" dirty="0">
                <a:solidFill>
                  <a:srgbClr val="1A2333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Built vs. documented — nothing overclaimed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12800" y="1892250"/>
            <a:ext cx="3386634" cy="394975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/>
        </p:spPr>
      </p:sp>
      <p:pic>
        <p:nvPicPr>
          <p:cNvPr id="5" name="Image 0" descr="CheckCircle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28700" y="2108150"/>
            <a:ext cx="203200" cy="203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308100" y="2110680"/>
            <a:ext cx="1898482" cy="2234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300" b="1" dirty="0">
                <a:solidFill>
                  <a:srgbClr val="1A233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Running, verified locally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1028700" y="2412950"/>
            <a:ext cx="3043479" cy="1206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50"/>
              </a:lnSpc>
              <a:buNone/>
            </a:pPr>
            <a:r>
              <a:rPr lang="en-US" sz="1000" dirty="0">
                <a:solidFill>
                  <a:srgbClr val="5B647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Ingestion · hybrid retrieval · 5-agent crew · FastAPI + OpenWebUI · Phoenix tracing · guardrails · human-in-the-loop review queue · agent- and model-level fallback · smart bypass · semantic cache · hash-chain audit log · a unified control plane · a first RAGAs pass — 29 passing tests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4402634" y="1892250"/>
            <a:ext cx="3386683" cy="394975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/>
        </p:spPr>
      </p:sp>
      <p:pic>
        <p:nvPicPr>
          <p:cNvPr id="9" name="Image 1" descr="Clock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618534" y="2108150"/>
            <a:ext cx="203200" cy="2032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4897934" y="2110680"/>
            <a:ext cx="1502767" cy="2234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300" b="1" dirty="0">
                <a:solidFill>
                  <a:srgbClr val="1A233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Genuinely not built</a:t>
            </a:r>
            <a:endParaRPr lang="en-US" sz="1300" dirty="0"/>
          </a:p>
        </p:txBody>
      </p:sp>
      <p:sp>
        <p:nvSpPr>
          <p:cNvPr id="11" name="Text 7"/>
          <p:cNvSpPr/>
          <p:nvPr/>
        </p:nvSpPr>
        <p:spPr>
          <a:xfrm>
            <a:off x="4618534" y="2412950"/>
            <a:ext cx="3043530" cy="812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50"/>
              </a:lnSpc>
              <a:buNone/>
            </a:pPr>
            <a:r>
              <a:rPr lang="en-US" sz="1000" dirty="0">
                <a:solidFill>
                  <a:srgbClr val="5B647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API authentication · rate limiting · CI eval gate — no auth/traffic threat model exists at this assessment's single-local-user scale to justify building them speculatively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7992517" y="1892250"/>
            <a:ext cx="3386683" cy="394975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/>
        </p:spPr>
      </p:sp>
      <p:pic>
        <p:nvPicPr>
          <p:cNvPr id="13" name="Image 2" descr="Cloud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208417" y="2108150"/>
            <a:ext cx="203200" cy="20320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8487817" y="2110680"/>
            <a:ext cx="1711920" cy="2234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300" b="1" dirty="0">
                <a:solidFill>
                  <a:srgbClr val="1A233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Written, not deployed</a:t>
            </a:r>
            <a:endParaRPr lang="en-US" sz="1300" dirty="0"/>
          </a:p>
        </p:txBody>
      </p:sp>
      <p:sp>
        <p:nvSpPr>
          <p:cNvPr id="15" name="Text 10"/>
          <p:cNvSpPr/>
          <p:nvPr/>
        </p:nvSpPr>
        <p:spPr>
          <a:xfrm>
            <a:off x="8208417" y="2412950"/>
            <a:ext cx="3043530" cy="812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50"/>
              </a:lnSpc>
              <a:buNone/>
            </a:pPr>
            <a:r>
              <a:rPr lang="en-US" sz="1000" dirty="0">
                <a:solidFill>
                  <a:srgbClr val="5B647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full GCP reference architecture is written in /doc — component-by-component, nothing hand-waved. No cloud environment was provisioned for this assessment, so none of it has run</a:t>
            </a:r>
            <a:endParaRPr lang="en-US" sz="1000" dirty="0"/>
          </a:p>
        </p:txBody>
      </p:sp>
      <p:sp>
        <p:nvSpPr>
          <p:cNvPr id="16" name="Text 11"/>
          <p:cNvSpPr/>
          <p:nvPr/>
        </p:nvSpPr>
        <p:spPr>
          <a:xfrm>
            <a:off x="812800" y="6238280"/>
            <a:ext cx="72380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8A8F9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AegisRAG</a:t>
            </a:r>
            <a:endParaRPr lang="en-US" sz="1200" dirty="0"/>
          </a:p>
        </p:txBody>
      </p:sp>
      <p:sp>
        <p:nvSpPr>
          <p:cNvPr id="17" name="Text 12"/>
          <p:cNvSpPr/>
          <p:nvPr/>
        </p:nvSpPr>
        <p:spPr>
          <a:xfrm>
            <a:off x="10883106" y="6238280"/>
            <a:ext cx="54689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8A8F9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11 / 16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B08D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DEPLOYMENT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254720"/>
            <a:ext cx="10883392" cy="463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450"/>
              </a:lnSpc>
              <a:buNone/>
            </a:pPr>
            <a:r>
              <a:rPr lang="en-US" sz="3000" b="1" dirty="0">
                <a:solidFill>
                  <a:srgbClr val="1A2333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Laptop today, cloud by design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15975" y="1924645"/>
            <a:ext cx="5181600" cy="3914180"/>
          </a:xfrm>
          <a:prstGeom prst="roundRect">
            <a:avLst>
              <a:gd name="adj" fmla="val 2515"/>
            </a:avLst>
          </a:prstGeom>
          <a:solidFill>
            <a:srgbClr val="FFFFFF"/>
          </a:solidFill>
          <a:ln w="6350">
            <a:solidFill>
              <a:srgbClr val="E3E0D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22350" y="2131020"/>
            <a:ext cx="4911916" cy="2234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300" b="1" dirty="0">
                <a:solidFill>
                  <a:srgbClr val="1F3A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Local — running now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22350" y="2418011"/>
            <a:ext cx="4911916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5B647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docker-compose: Postgres+PGVector, Phoenix, OpenWebUI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022350" y="2716461"/>
            <a:ext cx="4911916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5B647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Ollama native on the host — llama3.2:3b + nomic-embed-text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022350" y="3014911"/>
            <a:ext cx="4911916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5B647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FastAPI backend, Python 3.11 venv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203950" y="1921470"/>
            <a:ext cx="5175250" cy="3920530"/>
          </a:xfrm>
          <a:prstGeom prst="roundRect">
            <a:avLst>
              <a:gd name="adj" fmla="val 2591"/>
            </a:avLst>
          </a:prstGeom>
          <a:solidFill>
            <a:srgbClr val="1F3A5C"/>
          </a:solidFill>
          <a:ln/>
        </p:spPr>
      </p:sp>
      <p:sp>
        <p:nvSpPr>
          <p:cNvPr id="10" name="Text 8"/>
          <p:cNvSpPr/>
          <p:nvPr/>
        </p:nvSpPr>
        <p:spPr>
          <a:xfrm>
            <a:off x="6407150" y="2124670"/>
            <a:ext cx="4911916" cy="2234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300" b="1" dirty="0">
                <a:solidFill>
                  <a:srgbClr val="FBFB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Cloud reference — GCP, documented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7150" y="2411661"/>
            <a:ext cx="4911916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D9E1E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GKE / Cloud Run + Cloud SQL (PGVector)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07150" y="2710111"/>
            <a:ext cx="4911916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D9E1E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Cloud KMS for audit-log signing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407150" y="3008561"/>
            <a:ext cx="4911916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D9E1E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Vertex AI for future eval / fine-tuning tooling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12800" y="6238280"/>
            <a:ext cx="72380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8A8F9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AegisRAG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0883106" y="6238280"/>
            <a:ext cx="54689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8A8F9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12 / 16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0EF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B08D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BEYOND THE BRIEF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254720"/>
            <a:ext cx="10883392" cy="463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450"/>
              </a:lnSpc>
              <a:buNone/>
            </a:pPr>
            <a:r>
              <a:rPr lang="en-US" sz="3000" b="1" dirty="0">
                <a:solidFill>
                  <a:srgbClr val="1A2333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What wasn't asked for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12800" y="1921470"/>
            <a:ext cx="3437434" cy="1896765"/>
          </a:xfrm>
          <a:prstGeom prst="roundRect">
            <a:avLst>
              <a:gd name="adj" fmla="val 4017"/>
            </a:avLst>
          </a:prstGeom>
          <a:solidFill>
            <a:srgbClr val="1F3A5C"/>
          </a:solidFill>
          <a:ln/>
        </p:spPr>
      </p:sp>
      <p:sp>
        <p:nvSpPr>
          <p:cNvPr id="5" name="Text 3"/>
          <p:cNvSpPr/>
          <p:nvPr/>
        </p:nvSpPr>
        <p:spPr>
          <a:xfrm>
            <a:off x="965200" y="2073870"/>
            <a:ext cx="3226613" cy="229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10"/>
              </a:lnSpc>
              <a:buNone/>
            </a:pPr>
            <a:r>
              <a:rPr lang="en-US" sz="1150" b="1" dirty="0">
                <a:solidFill>
                  <a:srgbClr val="FBFB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Smart bypass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965200" y="2329111"/>
            <a:ext cx="3226613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D9E1E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107.8s → 58.3s — regex + cosine similarity skip an LLM call when the signal is already decisive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377234" y="1921470"/>
            <a:ext cx="3437483" cy="1896765"/>
          </a:xfrm>
          <a:prstGeom prst="roundRect">
            <a:avLst>
              <a:gd name="adj" fmla="val 4017"/>
            </a:avLst>
          </a:prstGeom>
          <a:solidFill>
            <a:srgbClr val="1F3A5C"/>
          </a:solidFill>
          <a:ln/>
        </p:spPr>
      </p:sp>
      <p:sp>
        <p:nvSpPr>
          <p:cNvPr id="8" name="Text 6"/>
          <p:cNvSpPr/>
          <p:nvPr/>
        </p:nvSpPr>
        <p:spPr>
          <a:xfrm>
            <a:off x="4529634" y="2073870"/>
            <a:ext cx="3226664" cy="229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10"/>
              </a:lnSpc>
              <a:buNone/>
            </a:pPr>
            <a:r>
              <a:rPr lang="en-US" sz="1150" b="1" dirty="0">
                <a:solidFill>
                  <a:srgbClr val="FBFB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Semantic answer cache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4529634" y="2329111"/>
            <a:ext cx="322666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D9E1E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50.6s → 0.1s on a repeat question — zero LLM calls, same citations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7941717" y="1921470"/>
            <a:ext cx="3437434" cy="1896765"/>
          </a:xfrm>
          <a:prstGeom prst="roundRect">
            <a:avLst>
              <a:gd name="adj" fmla="val 4017"/>
            </a:avLst>
          </a:prstGeom>
          <a:solidFill>
            <a:srgbClr val="FFFFFF"/>
          </a:solidFill>
          <a:ln/>
        </p:spPr>
      </p:sp>
      <p:sp>
        <p:nvSpPr>
          <p:cNvPr id="11" name="Text 9"/>
          <p:cNvSpPr/>
          <p:nvPr/>
        </p:nvSpPr>
        <p:spPr>
          <a:xfrm>
            <a:off x="8094117" y="2073870"/>
            <a:ext cx="3226613" cy="229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10"/>
              </a:lnSpc>
              <a:buNone/>
            </a:pPr>
            <a:r>
              <a:rPr lang="en-US" sz="1150" b="1" dirty="0">
                <a:solidFill>
                  <a:srgbClr val="1F3A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Prompt-injection guardrail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094117" y="2329111"/>
            <a:ext cx="3226613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5B647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unit-tested against real patterns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12800" y="3945235"/>
            <a:ext cx="3437434" cy="1896765"/>
          </a:xfrm>
          <a:prstGeom prst="roundRect">
            <a:avLst>
              <a:gd name="adj" fmla="val 4017"/>
            </a:avLst>
          </a:prstGeom>
          <a:solidFill>
            <a:srgbClr val="FFFFFF"/>
          </a:solidFill>
          <a:ln/>
        </p:spPr>
      </p:sp>
      <p:sp>
        <p:nvSpPr>
          <p:cNvPr id="14" name="Text 12"/>
          <p:cNvSpPr/>
          <p:nvPr/>
        </p:nvSpPr>
        <p:spPr>
          <a:xfrm>
            <a:off x="965200" y="4097635"/>
            <a:ext cx="3226613" cy="229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10"/>
              </a:lnSpc>
              <a:buNone/>
            </a:pPr>
            <a:r>
              <a:rPr lang="en-US" sz="1150" b="1" dirty="0">
                <a:solidFill>
                  <a:srgbClr val="1F3A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Tamper-evident audit log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965200" y="4352875"/>
            <a:ext cx="3226613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5B647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SHA-256 hash chain, not just a log file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377234" y="3945235"/>
            <a:ext cx="3437483" cy="1896765"/>
          </a:xfrm>
          <a:prstGeom prst="roundRect">
            <a:avLst>
              <a:gd name="adj" fmla="val 4017"/>
            </a:avLst>
          </a:prstGeom>
          <a:solidFill>
            <a:srgbClr val="FFFFFF"/>
          </a:solidFill>
          <a:ln/>
        </p:spPr>
      </p:sp>
      <p:sp>
        <p:nvSpPr>
          <p:cNvPr id="17" name="Text 15"/>
          <p:cNvSpPr/>
          <p:nvPr/>
        </p:nvSpPr>
        <p:spPr>
          <a:xfrm>
            <a:off x="4529634" y="4097635"/>
            <a:ext cx="3226664" cy="229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10"/>
              </a:lnSpc>
              <a:buNone/>
            </a:pPr>
            <a:r>
              <a:rPr lang="en-US" sz="1150" b="1" dirty="0">
                <a:solidFill>
                  <a:srgbClr val="1F3A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Checksum dedupe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4529634" y="4352875"/>
            <a:ext cx="3226664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5B647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re-ingest is a verified no-op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941717" y="3945235"/>
            <a:ext cx="3437434" cy="1896765"/>
          </a:xfrm>
          <a:prstGeom prst="roundRect">
            <a:avLst>
              <a:gd name="adj" fmla="val 4017"/>
            </a:avLst>
          </a:prstGeom>
          <a:solidFill>
            <a:srgbClr val="FFFFFF"/>
          </a:solidFill>
          <a:ln/>
        </p:spPr>
      </p:sp>
      <p:sp>
        <p:nvSpPr>
          <p:cNvPr id="20" name="Text 18"/>
          <p:cNvSpPr/>
          <p:nvPr/>
        </p:nvSpPr>
        <p:spPr>
          <a:xfrm>
            <a:off x="8094117" y="4097635"/>
            <a:ext cx="3226613" cy="229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10"/>
              </a:lnSpc>
              <a:buNone/>
            </a:pPr>
            <a:r>
              <a:rPr lang="en-US" sz="1150" b="1" dirty="0">
                <a:solidFill>
                  <a:srgbClr val="1F3A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Disclosed upstream bug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094117" y="4352875"/>
            <a:ext cx="3226613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5B647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patched &amp; documented, not hidden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812800" y="6238280"/>
            <a:ext cx="72380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8A8F9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AegisRAG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0883106" y="6238280"/>
            <a:ext cx="54689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8A8F9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13 / 16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0EF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B08D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ALTERNATIVES CONSIDERED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229320"/>
            <a:ext cx="10883392" cy="4051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990"/>
              </a:lnSpc>
              <a:buNone/>
            </a:pPr>
            <a:r>
              <a:rPr lang="en-US" sz="2600" b="1" dirty="0">
                <a:solidFill>
                  <a:srgbClr val="1A2333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CrewAI + Phoenix, not LangGraph + LangSmith — and why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812800" y="1812230"/>
            <a:ext cx="5181600" cy="2902049"/>
          </a:xfrm>
          <a:prstGeom prst="roundRect">
            <a:avLst>
              <a:gd name="adj" fmla="val 3501"/>
            </a:avLst>
          </a:prstGeom>
          <a:solidFill>
            <a:srgbClr val="FFFFFF"/>
          </a:solidFill>
          <a:ln/>
        </p:spPr>
      </p:sp>
      <p:sp>
        <p:nvSpPr>
          <p:cNvPr id="5" name="Text 3"/>
          <p:cNvSpPr/>
          <p:nvPr/>
        </p:nvSpPr>
        <p:spPr>
          <a:xfrm>
            <a:off x="1028700" y="2028130"/>
            <a:ext cx="4892294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1F3A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Orchestration: LangGraph would fit better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1028700" y="2307530"/>
            <a:ext cx="4892294" cy="77331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73"/>
              </a:lnSpc>
              <a:buNone/>
            </a:pPr>
            <a:r>
              <a:rPr lang="en-US" sz="950" dirty="0">
                <a:solidFill>
                  <a:srgbClr val="5B647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Our flow — plan → retrieve → validate → refine/retry → synthesize → cite — is a state machine: explicit state, conditional routing, retry loops, fallback and HITL gates. LangGraph models all of that natively; CrewAI's model is role/task collaboration, with state as a secondary concern.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28700" y="3144341"/>
            <a:ext cx="4892294" cy="96028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73"/>
              </a:lnSpc>
              <a:buNone/>
            </a:pPr>
            <a:r>
              <a:rPr lang="en-US" sz="950" dirty="0">
                <a:solidFill>
                  <a:srgbClr val="5B647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assessment mandates CrewAI, so I didn't add LangGraph on top of it — CrewAI + LangGraph + LlamaIndex would be three orchestration-adjacent frameworks for one flow, a harder question to defend than the gap it fills. What LangGraph gives for free, </a:t>
            </a:r>
            <a:r>
              <a:rPr lang="en-US" sz="950" b="1" dirty="0">
                <a:solidFill>
                  <a:srgbClr val="5B647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orchestrator.py</a:t>
            </a:r>
            <a:r>
              <a:rPr lang="en-US" sz="950" dirty="0">
                <a:solidFill>
                  <a:srgbClr val="5B647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implements explicitly instead: state, retries, validation gates, abstention, escalation.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197600" y="1812230"/>
            <a:ext cx="5181600" cy="2902049"/>
          </a:xfrm>
          <a:prstGeom prst="roundRect">
            <a:avLst>
              <a:gd name="adj" fmla="val 3501"/>
            </a:avLst>
          </a:prstGeom>
          <a:solidFill>
            <a:srgbClr val="FFFFFF"/>
          </a:solidFill>
          <a:ln/>
        </p:spPr>
      </p:sp>
      <p:sp>
        <p:nvSpPr>
          <p:cNvPr id="9" name="Text 7"/>
          <p:cNvSpPr/>
          <p:nvPr/>
        </p:nvSpPr>
        <p:spPr>
          <a:xfrm>
            <a:off x="6413500" y="2028130"/>
            <a:ext cx="4892294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1F3A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Observability: LangSmith could be a better fit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6413500" y="2307530"/>
            <a:ext cx="4892294" cy="77331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73"/>
              </a:lnSpc>
              <a:buNone/>
            </a:pPr>
            <a:r>
              <a:rPr lang="en-US" sz="950" dirty="0">
                <a:solidFill>
                  <a:srgbClr val="5B647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LangSmith has deeper native tracing for LangChain/LangGraph pipelines specifically, plus a more polished built-in dataset/eval workflow. Phoenix was chosen for this build because it's open-source, self-hostable, and OTel-native — no external account, no data leaving the laptop.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13500" y="3144341"/>
            <a:ext cx="4892294" cy="5863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73"/>
              </a:lnSpc>
              <a:buNone/>
            </a:pPr>
            <a:r>
              <a:rPr lang="en-US" sz="950" dirty="0">
                <a:solidFill>
                  <a:srgbClr val="5B647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That fits a fully local, single-machine deployment. On a LangGraph-based stack, or a team already invested in LangSmith, the tradeoff inverts — it isn't a claim that Phoenix is better in general, only that it fit this project's constraints.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812800" y="4917480"/>
            <a:ext cx="10566400" cy="924520"/>
          </a:xfrm>
          <a:prstGeom prst="roundRect">
            <a:avLst>
              <a:gd name="adj" fmla="val 10989"/>
            </a:avLst>
          </a:prstGeom>
          <a:solidFill>
            <a:srgbClr val="1F3A5C"/>
          </a:solidFill>
          <a:ln/>
        </p:spPr>
      </p:sp>
      <p:sp>
        <p:nvSpPr>
          <p:cNvPr id="13" name="Text 11"/>
          <p:cNvSpPr/>
          <p:nvPr/>
        </p:nvSpPr>
        <p:spPr>
          <a:xfrm>
            <a:off x="1028700" y="5095280"/>
            <a:ext cx="1020366" cy="59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C9A8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[icon: Scale]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2099866" y="5179715"/>
            <a:ext cx="9335337" cy="4254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050" dirty="0">
                <a:solidFill>
                  <a:srgbClr val="FBFB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Fewer frameworks with explicit, auditable control flow beats stacking frameworks to look sophisticated — the same principle behind every other build choice in this deck.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812800" y="6238280"/>
            <a:ext cx="72380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8A8F9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AegisRAG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0883106" y="6238280"/>
            <a:ext cx="54689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8A8F9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14 / 16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0EF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271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2"/>
              </a:lnSpc>
              <a:buNone/>
            </a:pPr>
            <a:r>
              <a:rPr lang="en-US" sz="1159" b="1" spc="150" kern="0" dirty="0">
                <a:solidFill>
                  <a:srgbClr val="B08D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PERFORMANCE ENGINEERING</a:t>
            </a:r>
            <a:endParaRPr lang="en-US" sz="1159" dirty="0"/>
          </a:p>
        </p:txBody>
      </p:sp>
      <p:sp>
        <p:nvSpPr>
          <p:cNvPr id="3" name="Text 1"/>
          <p:cNvSpPr/>
          <p:nvPr/>
        </p:nvSpPr>
        <p:spPr>
          <a:xfrm>
            <a:off x="812800" y="1179612"/>
            <a:ext cx="10883392" cy="3706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22"/>
              </a:lnSpc>
              <a:buNone/>
            </a:pPr>
            <a:r>
              <a:rPr lang="en-US" sz="2367" b="1" dirty="0">
                <a:solidFill>
                  <a:srgbClr val="1A2333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Two latency levers, and a negative result worth keeping</a:t>
            </a:r>
            <a:endParaRPr lang="en-US" sz="2367" dirty="0"/>
          </a:p>
        </p:txBody>
      </p:sp>
      <p:sp>
        <p:nvSpPr>
          <p:cNvPr id="4" name="Shape 2"/>
          <p:cNvSpPr/>
          <p:nvPr/>
        </p:nvSpPr>
        <p:spPr>
          <a:xfrm>
            <a:off x="812800" y="1689943"/>
            <a:ext cx="5187950" cy="1223665"/>
          </a:xfrm>
          <a:prstGeom prst="roundRect">
            <a:avLst>
              <a:gd name="adj" fmla="val 8303"/>
            </a:avLst>
          </a:prstGeom>
          <a:solidFill>
            <a:srgbClr val="1F3A5C"/>
          </a:solidFill>
          <a:ln/>
        </p:spPr>
      </p:sp>
      <p:sp>
        <p:nvSpPr>
          <p:cNvPr id="5" name="Text 3"/>
          <p:cNvSpPr/>
          <p:nvPr/>
        </p:nvSpPr>
        <p:spPr>
          <a:xfrm>
            <a:off x="990600" y="1867743"/>
            <a:ext cx="4977321" cy="2072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73"/>
              </a:lnSpc>
              <a:buNone/>
            </a:pPr>
            <a:r>
              <a:rPr lang="en-US" sz="1052" b="1" dirty="0">
                <a:solidFill>
                  <a:srgbClr val="FBFB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Work avoidance — skip work you don't need</a:t>
            </a:r>
            <a:endParaRPr lang="en-US" sz="1052" dirty="0"/>
          </a:p>
        </p:txBody>
      </p:sp>
      <p:sp>
        <p:nvSpPr>
          <p:cNvPr id="6" name="Text 4"/>
          <p:cNvSpPr/>
          <p:nvPr/>
        </p:nvSpPr>
        <p:spPr>
          <a:xfrm>
            <a:off x="990600" y="2100411"/>
            <a:ext cx="4977321" cy="362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336"/>
              </a:lnSpc>
              <a:buNone/>
            </a:pPr>
            <a:r>
              <a:rPr lang="en-US" sz="891" dirty="0">
                <a:solidFill>
                  <a:srgbClr val="D9E1E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Smart bypass (regex + cosine similarity) and the semantic answer cache. Skips an LLM call, or the whole pipeline.</a:t>
            </a:r>
            <a:endParaRPr lang="en-US" sz="891" dirty="0"/>
          </a:p>
        </p:txBody>
      </p:sp>
      <p:sp>
        <p:nvSpPr>
          <p:cNvPr id="7" name="Text 5"/>
          <p:cNvSpPr/>
          <p:nvPr/>
        </p:nvSpPr>
        <p:spPr>
          <a:xfrm>
            <a:off x="990600" y="2487811"/>
            <a:ext cx="4977321" cy="27339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9"/>
              </a:lnSpc>
              <a:buNone/>
            </a:pPr>
            <a:r>
              <a:rPr lang="en-US" sz="1406" b="1" dirty="0">
                <a:solidFill>
                  <a:srgbClr val="C9A86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107.8s → 58.3s</a:t>
            </a:r>
            <a:endParaRPr lang="en-US" sz="1406" dirty="0"/>
          </a:p>
        </p:txBody>
      </p:sp>
      <p:sp>
        <p:nvSpPr>
          <p:cNvPr id="8" name="Shape 6"/>
          <p:cNvSpPr/>
          <p:nvPr/>
        </p:nvSpPr>
        <p:spPr>
          <a:xfrm>
            <a:off x="6181725" y="1693118"/>
            <a:ext cx="5194300" cy="1217315"/>
          </a:xfrm>
          <a:prstGeom prst="roundRect">
            <a:avLst>
              <a:gd name="adj" fmla="val 8085"/>
            </a:avLst>
          </a:prstGeom>
          <a:solidFill>
            <a:srgbClr val="FFFFFF"/>
          </a:solidFill>
          <a:ln w="6350">
            <a:solidFill>
              <a:srgbClr val="E3E0D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362700" y="1874093"/>
            <a:ext cx="4977321" cy="2042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25"/>
              </a:lnSpc>
              <a:buNone/>
            </a:pPr>
            <a:r>
              <a:rPr lang="en-US" sz="1018" b="1" dirty="0">
                <a:solidFill>
                  <a:srgbClr val="1F3A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Inference optimization — make the work cheaper</a:t>
            </a:r>
            <a:endParaRPr lang="en-US" sz="1018" dirty="0"/>
          </a:p>
        </p:txBody>
      </p:sp>
      <p:sp>
        <p:nvSpPr>
          <p:cNvPr id="10" name="Text 8"/>
          <p:cNvSpPr/>
          <p:nvPr/>
        </p:nvSpPr>
        <p:spPr>
          <a:xfrm>
            <a:off x="6362700" y="2103735"/>
            <a:ext cx="4977321" cy="3563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309"/>
              </a:lnSpc>
              <a:buNone/>
            </a:pPr>
            <a:r>
              <a:rPr lang="en-US" sz="873" dirty="0">
                <a:solidFill>
                  <a:srgbClr val="5B647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Model tiering + context trimming. Every agent still runs — no step skipped, same outcome (confidence 1.0 both ways).</a:t>
            </a:r>
            <a:endParaRPr lang="en-US" sz="873" dirty="0"/>
          </a:p>
        </p:txBody>
      </p:sp>
      <p:sp>
        <p:nvSpPr>
          <p:cNvPr id="11" name="Text 9"/>
          <p:cNvSpPr/>
          <p:nvPr/>
        </p:nvSpPr>
        <p:spPr>
          <a:xfrm>
            <a:off x="6362700" y="2485529"/>
            <a:ext cx="4977321" cy="26932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3"/>
              </a:lnSpc>
              <a:buNone/>
            </a:pPr>
            <a:r>
              <a:rPr lang="en-US" sz="1373" b="1" dirty="0">
                <a:solidFill>
                  <a:srgbClr val="1F3A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30.8s → 18.7s</a:t>
            </a:r>
            <a:endParaRPr lang="en-US" sz="1373" dirty="0"/>
          </a:p>
        </p:txBody>
      </p:sp>
      <p:sp>
        <p:nvSpPr>
          <p:cNvPr id="12" name="Shape 10"/>
          <p:cNvSpPr/>
          <p:nvPr/>
        </p:nvSpPr>
        <p:spPr>
          <a:xfrm>
            <a:off x="815975" y="3081883"/>
            <a:ext cx="10560050" cy="1773684"/>
          </a:xfrm>
          <a:prstGeom prst="roundRect">
            <a:avLst>
              <a:gd name="adj" fmla="val 5549"/>
            </a:avLst>
          </a:prstGeom>
          <a:solidFill>
            <a:srgbClr val="FFFFFF"/>
          </a:solidFill>
          <a:ln w="6350">
            <a:solidFill>
              <a:srgbClr val="E3E0D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09650" y="3250158"/>
            <a:ext cx="10477881" cy="20052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24"/>
              </a:lnSpc>
              <a:buNone/>
            </a:pPr>
            <a:r>
              <a:rPr lang="en-US" sz="1017" b="1" dirty="0">
                <a:solidFill>
                  <a:srgbClr val="1A233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Which model runs which agent</a:t>
            </a:r>
            <a:endParaRPr lang="en-US" sz="1017" dirty="0"/>
          </a:p>
        </p:txBody>
      </p:sp>
      <p:sp>
        <p:nvSpPr>
          <p:cNvPr id="14" name="Text 12"/>
          <p:cNvSpPr/>
          <p:nvPr/>
        </p:nvSpPr>
        <p:spPr>
          <a:xfrm>
            <a:off x="1009650" y="3514179"/>
            <a:ext cx="3293040" cy="1824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spc="50" kern="0" dirty="0">
                <a:solidFill>
                  <a:srgbClr val="8A8F9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AGENT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206776" y="3514179"/>
            <a:ext cx="2993658" cy="1824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spc="50" kern="0" dirty="0">
                <a:solidFill>
                  <a:srgbClr val="8A8F9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MODEL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113240" y="3514179"/>
            <a:ext cx="4191183" cy="1824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spc="50" kern="0" dirty="0">
                <a:solidFill>
                  <a:srgbClr val="8A8F9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WHY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009650" y="3671243"/>
            <a:ext cx="3293040" cy="1824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330"/>
              </a:lnSpc>
              <a:buNone/>
            </a:pPr>
            <a:r>
              <a:rPr lang="en-US" sz="950" dirty="0">
                <a:solidFill>
                  <a:srgbClr val="1A233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Planner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4206776" y="3671243"/>
            <a:ext cx="2993658" cy="1824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330"/>
              </a:lnSpc>
              <a:buNone/>
            </a:pPr>
            <a:r>
              <a:rPr lang="en-US" sz="950" b="1" dirty="0">
                <a:solidFill>
                  <a:srgbClr val="1F3A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llama3.2:1b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7113240" y="3671243"/>
            <a:ext cx="4191183" cy="1824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5B647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Coarse decision, wrong call doesn't corrupt anything downstream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09650" y="3828306"/>
            <a:ext cx="3293040" cy="1824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330"/>
              </a:lnSpc>
              <a:buNone/>
            </a:pPr>
            <a:r>
              <a:rPr lang="en-US" sz="950" dirty="0">
                <a:solidFill>
                  <a:srgbClr val="1A233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Retrieval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4206776" y="3828306"/>
            <a:ext cx="2993658" cy="1824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330"/>
              </a:lnSpc>
              <a:buNone/>
            </a:pPr>
            <a:r>
              <a:rPr lang="en-US" sz="950" dirty="0">
                <a:solidFill>
                  <a:srgbClr val="5B647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— no LLM —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7113240" y="3828306"/>
            <a:ext cx="4191183" cy="1824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5B647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PGVector + lexical search; nomic-embed-text for embeddings only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009650" y="3985369"/>
            <a:ext cx="3293040" cy="1824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330"/>
              </a:lnSpc>
              <a:buNone/>
            </a:pPr>
            <a:r>
              <a:rPr lang="en-US" sz="950" dirty="0">
                <a:solidFill>
                  <a:srgbClr val="1A233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Evidence Validator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4206776" y="3985369"/>
            <a:ext cx="2993658" cy="1824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330"/>
              </a:lnSpc>
              <a:buNone/>
            </a:pPr>
            <a:r>
              <a:rPr lang="en-US" sz="950" b="1" dirty="0">
                <a:solidFill>
                  <a:srgbClr val="1F3A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llama3.2:3b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7113240" y="3985369"/>
            <a:ext cx="4191183" cy="1824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5B647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Tried 1b here — rejected, see below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009650" y="4142432"/>
            <a:ext cx="3293040" cy="1824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330"/>
              </a:lnSpc>
              <a:buNone/>
            </a:pPr>
            <a:r>
              <a:rPr lang="en-US" sz="950" dirty="0">
                <a:solidFill>
                  <a:srgbClr val="1A233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Synthesis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4206776" y="4142432"/>
            <a:ext cx="2993658" cy="1824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330"/>
              </a:lnSpc>
              <a:buNone/>
            </a:pPr>
            <a:r>
              <a:rPr lang="en-US" sz="950" b="1" dirty="0">
                <a:solidFill>
                  <a:srgbClr val="1F3A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llama3.2:3b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7113240" y="4142432"/>
            <a:ext cx="4191183" cy="1824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5B647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one step that needs real generative capability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009650" y="4299496"/>
            <a:ext cx="3293040" cy="1825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330"/>
              </a:lnSpc>
              <a:buNone/>
            </a:pPr>
            <a:r>
              <a:rPr lang="en-US" sz="950" dirty="0">
                <a:solidFill>
                  <a:srgbClr val="1A233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Citation &amp; Quality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4206776" y="4299496"/>
            <a:ext cx="2993658" cy="1825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330"/>
              </a:lnSpc>
              <a:buNone/>
            </a:pPr>
            <a:r>
              <a:rPr lang="en-US" sz="950" b="1" dirty="0">
                <a:solidFill>
                  <a:srgbClr val="1F3A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llama3.2:3b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7113240" y="4299496"/>
            <a:ext cx="4191183" cy="1825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5B647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Tried 1b here too — also rejected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009650" y="4545509"/>
            <a:ext cx="10477881" cy="167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123"/>
              </a:lnSpc>
              <a:buNone/>
            </a:pPr>
            <a:r>
              <a:rPr lang="en-US" sz="802" dirty="0">
                <a:solidFill>
                  <a:srgbClr val="8A8F9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Any agent escalates once to </a:t>
            </a:r>
            <a:r>
              <a:rPr lang="en-US" sz="802" b="1" dirty="0">
                <a:solidFill>
                  <a:srgbClr val="8A8F9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qwen2.5:7b-instruct</a:t>
            </a:r>
            <a:r>
              <a:rPr lang="en-US" sz="802" dirty="0">
                <a:solidFill>
                  <a:srgbClr val="8A8F9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on a primary-model failure (model-level fallback, unrelated to tiering).</a:t>
            </a:r>
            <a:endParaRPr lang="en-US" sz="802" dirty="0"/>
          </a:p>
        </p:txBody>
      </p:sp>
      <p:sp>
        <p:nvSpPr>
          <p:cNvPr id="33" name="Shape 31"/>
          <p:cNvSpPr/>
          <p:nvPr/>
        </p:nvSpPr>
        <p:spPr>
          <a:xfrm>
            <a:off x="812800" y="5023842"/>
            <a:ext cx="10566400" cy="818158"/>
          </a:xfrm>
          <a:prstGeom prst="roundRect">
            <a:avLst>
              <a:gd name="adj" fmla="val 12418"/>
            </a:avLst>
          </a:prstGeom>
          <a:solidFill>
            <a:srgbClr val="1A2333"/>
          </a:solidFill>
          <a:ln/>
        </p:spPr>
      </p:sp>
      <p:sp>
        <p:nvSpPr>
          <p:cNvPr id="34" name="Text 32"/>
          <p:cNvSpPr/>
          <p:nvPr/>
        </p:nvSpPr>
        <p:spPr>
          <a:xfrm>
            <a:off x="1003300" y="5290691"/>
            <a:ext cx="1761132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C9A8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[icon: FlaskConical]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2814737" y="5161459"/>
            <a:ext cx="8625182" cy="5683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25"/>
              </a:lnSpc>
              <a:buNone/>
            </a:pPr>
            <a:r>
              <a:rPr lang="en-US" sz="950" b="1" dirty="0">
                <a:solidFill>
                  <a:srgbClr val="FBFB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Measured, not assumed:</a:t>
            </a:r>
            <a:r>
              <a:rPr lang="en-US" sz="950" dirty="0">
                <a:solidFill>
                  <a:srgbClr val="FBFB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tiering Evidence Validator to llama3.2:1b caused it to misjudge sufficient evidence as insufficient — more retries, slower overall, and it degraded instead of answering. Tiering Citation &amp; Quality returned an unreliable 0.00 confidence on a question the primary model answered at 1.0. Both excluded by design: tier a step by how expensive being wrong is, not by how short its output is.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812800" y="6238280"/>
            <a:ext cx="72380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8A8F9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AegisRAG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10883106" y="6238280"/>
            <a:ext cx="54689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8A8F9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15 / 16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A23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C9A86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STATUS &amp; NEXT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153120"/>
            <a:ext cx="10883392" cy="463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450"/>
              </a:lnSpc>
              <a:buNone/>
            </a:pPr>
            <a:r>
              <a:rPr lang="en-US" sz="3000" b="1" dirty="0">
                <a:solidFill>
                  <a:srgbClr val="FBFBF8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Thank you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12800" y="3210570"/>
            <a:ext cx="3420517" cy="1002010"/>
          </a:xfrm>
          <a:prstGeom prst="roundRect">
            <a:avLst>
              <a:gd name="adj" fmla="val 10140"/>
            </a:avLst>
          </a:prstGeom>
          <a:solidFill>
            <a:srgbClr val="243248"/>
          </a:solidFill>
          <a:ln/>
        </p:spPr>
      </p:sp>
      <p:sp>
        <p:nvSpPr>
          <p:cNvPr id="5" name="Text 3"/>
          <p:cNvSpPr/>
          <p:nvPr/>
        </p:nvSpPr>
        <p:spPr>
          <a:xfrm>
            <a:off x="990600" y="3388370"/>
            <a:ext cx="3156864" cy="220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b="1" dirty="0">
                <a:solidFill>
                  <a:srgbClr val="C9A86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Next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90600" y="3634730"/>
            <a:ext cx="3156864" cy="2254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050" dirty="0">
                <a:solidFill>
                  <a:srgbClr val="BFC8D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Expand the golden and adversarial eval sets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385717" y="3210570"/>
            <a:ext cx="3420566" cy="1002010"/>
          </a:xfrm>
          <a:prstGeom prst="roundRect">
            <a:avLst>
              <a:gd name="adj" fmla="val 10140"/>
            </a:avLst>
          </a:prstGeom>
          <a:solidFill>
            <a:srgbClr val="243248"/>
          </a:solidFill>
          <a:ln/>
        </p:spPr>
      </p:sp>
      <p:sp>
        <p:nvSpPr>
          <p:cNvPr id="8" name="Text 6"/>
          <p:cNvSpPr/>
          <p:nvPr/>
        </p:nvSpPr>
        <p:spPr>
          <a:xfrm>
            <a:off x="4563517" y="3388370"/>
            <a:ext cx="3156915" cy="220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b="1" dirty="0">
                <a:solidFill>
                  <a:srgbClr val="C9A86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Next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63517" y="3634730"/>
            <a:ext cx="3156915" cy="2254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050" dirty="0">
                <a:solidFill>
                  <a:srgbClr val="BFC8D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API auth, rate limiting, CI eval gate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7958683" y="3210570"/>
            <a:ext cx="3420517" cy="1002010"/>
          </a:xfrm>
          <a:prstGeom prst="roundRect">
            <a:avLst>
              <a:gd name="adj" fmla="val 10140"/>
            </a:avLst>
          </a:prstGeom>
          <a:solidFill>
            <a:srgbClr val="243248"/>
          </a:solidFill>
          <a:ln/>
        </p:spPr>
      </p:sp>
      <p:sp>
        <p:nvSpPr>
          <p:cNvPr id="11" name="Text 9"/>
          <p:cNvSpPr/>
          <p:nvPr/>
        </p:nvSpPr>
        <p:spPr>
          <a:xfrm>
            <a:off x="8136483" y="3388370"/>
            <a:ext cx="3156864" cy="220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b="1" dirty="0">
                <a:solidFill>
                  <a:srgbClr val="C9A86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Next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136483" y="3634730"/>
            <a:ext cx="3156864" cy="4254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050" dirty="0">
                <a:solidFill>
                  <a:srgbClr val="BFC8D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Chaos-test model fallback; re-add 2nd PDF, OCR off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812800" y="5831880"/>
            <a:ext cx="74756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BFB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AegisRAG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9485610" y="5845175"/>
            <a:ext cx="1950398" cy="212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70"/>
              </a:lnSpc>
              <a:buNone/>
            </a:pPr>
            <a:r>
              <a:rPr lang="en-US" sz="1050" dirty="0">
                <a:solidFill>
                  <a:srgbClr val="8A93A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github.com/mad0907/aegisRag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AegisRAG — Enterprise Agentic Document Intelligence Platform</dc:title>
  <dc:subject>PptxGenJS Presentation</dc:subject>
  <dc:creator>PptxGenJS</dc:creator>
  <cp:lastModifiedBy>PptxGenJS</cp:lastModifiedBy>
  <cp:revision>1</cp:revision>
  <dcterms:created xsi:type="dcterms:W3CDTF">2026-09-23T09:43:03Z</dcterms:created>
  <dcterms:modified xsi:type="dcterms:W3CDTF">2026-09-23T09:43:03Z</dcterms:modified>
</cp:coreProperties>
</file>