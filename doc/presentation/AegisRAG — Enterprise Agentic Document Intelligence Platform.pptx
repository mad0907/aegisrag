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0349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8128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7000" y="916930"/>
            <a:ext cx="274961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TECHNICAL ASSESSMENT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422400"/>
            <a:ext cx="10883392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000"/>
              </a:lnSpc>
              <a:buNone/>
            </a:pPr>
            <a:r>
              <a:rPr lang="en-US" sz="8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AegisRAG</a:t>
            </a:r>
            <a:endParaRPr lang="en-US" sz="8000" dirty="0"/>
          </a:p>
        </p:txBody>
      </p:sp>
      <p:sp>
        <p:nvSpPr>
          <p:cNvPr id="5" name="Text 2"/>
          <p:cNvSpPr/>
          <p:nvPr/>
        </p:nvSpPr>
        <p:spPr>
          <a:xfrm>
            <a:off x="812800" y="2590800"/>
            <a:ext cx="1088339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1F3A5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Enterprise Agentic Document Intelligence Platform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15975" y="3735090"/>
            <a:ext cx="10560050" cy="946150"/>
          </a:xfrm>
          <a:prstGeom prst="roundRect">
            <a:avLst>
              <a:gd name="adj" fmla="val 10403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2350" y="3941465"/>
            <a:ext cx="104517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</a:t>
            </a: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Greek for "shield" or "protection". </a:t>
            </a:r>
            <a:r>
              <a:rPr lang="en-US" sz="12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RAG</a:t>
            </a: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Retrieval-Augmented Generation.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22350" y="4246265"/>
            <a:ext cx="104517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Designed to make enterprise AI grounded, observable and controlled — not simply generative.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2800" y="549027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Agentic RAG Backend for OpenWebUI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2800" y="5840760"/>
            <a:ext cx="10883392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900" kern="0" spc="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· LlamaIndex · CrewAI · PostgreSQL / PGVector · Ollama · Arize Phoenix · RAGAs</a:t>
            </a:r>
          </a:p>
          <a:p>
            <a:pPr marL="0" indent="0" algn="l">
              <a:lnSpc>
                <a:spcPts val="1610"/>
              </a:lnSpc>
              <a:buNone/>
            </a:pPr>
            <a:endParaRPr lang="en-US" sz="900" kern="0" spc="50" dirty="0">
              <a:solidFill>
                <a:srgbClr val="5B6472"/>
              </a:solidFill>
              <a:latin typeface="IBM Plex Sans" pitchFamily="34" charset="0"/>
            </a:endParaRPr>
          </a:p>
          <a:p>
            <a:pPr marL="0" indent="0" algn="l">
              <a:lnSpc>
                <a:spcPts val="1610"/>
              </a:lnSpc>
              <a:buNone/>
            </a:pPr>
            <a:r>
              <a:rPr lang="en-US" sz="900" kern="0" spc="50" dirty="0">
                <a:solidFill>
                  <a:srgbClr val="5B6472"/>
                </a:solidFill>
                <a:latin typeface="IBM Plex Sans" pitchFamily="34" charset="0"/>
              </a:rPr>
              <a:t>By Dr. Munmun Das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PROBLEM &amp;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3055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Enterprise documents are searchable. They aren't trustworthy.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2026245"/>
            <a:ext cx="5181600" cy="1410295"/>
          </a:xfrm>
          <a:prstGeom prst="roundRect">
            <a:avLst>
              <a:gd name="adj" fmla="val 697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258020"/>
            <a:ext cx="48595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gap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47750" y="2547541"/>
            <a:ext cx="48595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model that answers confidently from a PDF — with no citation, no confidence signal, no audit trail — is a liability in an enterprise setting, not a feature.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03950" y="2023070"/>
            <a:ext cx="5175250" cy="1416645"/>
          </a:xfrm>
          <a:prstGeom prst="roundRect">
            <a:avLst>
              <a:gd name="adj" fmla="val 7172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6432550" y="2251670"/>
            <a:ext cx="48595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approach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32550" y="2541191"/>
            <a:ext cx="48595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15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 treats retrieval and reasoning as something to prove, not assert — evidence-first, cited, scored and logged at every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975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28167" y="4687193"/>
            <a:ext cx="447179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954213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73288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5452" y="4687193"/>
            <a:ext cx="567234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Retrieve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11525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30600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13225" y="4687193"/>
            <a:ext cx="506264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Reason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8838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87913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44195" y="4687193"/>
            <a:ext cx="558998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6150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45225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32525" y="4687193"/>
            <a:ext cx="296912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83463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02538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56538" y="4687193"/>
            <a:ext cx="563513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740775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59850" y="4569718"/>
            <a:ext cx="1071563" cy="421630"/>
          </a:xfrm>
          <a:prstGeom prst="roundRect">
            <a:avLst>
              <a:gd name="adj" fmla="val 17320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01001" y="4687193"/>
            <a:ext cx="589260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098088" y="4673898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313988" y="4572893"/>
            <a:ext cx="1065213" cy="415280"/>
          </a:xfrm>
          <a:prstGeom prst="roundRect">
            <a:avLst>
              <a:gd name="adj" fmla="val 18349"/>
            </a:avLst>
          </a:prstGeom>
          <a:solidFill>
            <a:srgbClr val="1F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10559306" y="4687193"/>
            <a:ext cx="57457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Improve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Six planes, one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31850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8700" y="2150070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Experience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8700" y="2411661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OpenWebUI — the chat interface, no RAG logic inside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5717" y="1972270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404767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1617" y="2150070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/ Security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01617" y="2411661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FastAPI, OpenAI-compatible endpoint, guardrail checkpoints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8634" y="1972270"/>
            <a:ext cx="3420566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977684" y="1972270"/>
            <a:ext cx="0" cy="1858665"/>
          </a:xfrm>
          <a:prstGeom prst="line">
            <a:avLst/>
          </a:prstGeom>
          <a:noFill/>
          <a:ln w="38100">
            <a:solidFill>
              <a:srgbClr val="1F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74534" y="2150070"/>
            <a:ext cx="311767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Runtime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74534" y="2411661"/>
            <a:ext cx="311767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CrewAI agents orchestrating LlamaIndex query engines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2800" y="3983335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31850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4161135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Knowledge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8700" y="4422725"/>
            <a:ext cx="311762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ingestion + PostgreSQL / PGVector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5717" y="3983335"/>
            <a:ext cx="3420517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404767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1617" y="4161135"/>
            <a:ext cx="311762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Trust &amp; Governance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01617" y="4422725"/>
            <a:ext cx="311762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Guardrails, human-in-the-loop, hash-chain audit log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58634" y="3983335"/>
            <a:ext cx="3420566" cy="1858665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977684" y="3983335"/>
            <a:ext cx="0" cy="1858665"/>
          </a:xfrm>
          <a:prstGeom prst="line">
            <a:avLst/>
          </a:prstGeom>
          <a:noFill/>
          <a:ln w="38100">
            <a:solidFill>
              <a:srgbClr val="B08D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74534" y="4161135"/>
            <a:ext cx="311767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74534" y="4422725"/>
            <a:ext cx="311767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Arize Phoenix, RAGAs, feedback loop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14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KNOWLEDGE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Ingestion — structure preserved, not flattened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2085280"/>
            <a:ext cx="1824980" cy="824210"/>
          </a:xfrm>
          <a:prstGeom prst="roundRect">
            <a:avLst>
              <a:gd name="adj" fmla="val 11942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5" name="Image 0" descr="Boo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07790" y="2253555"/>
            <a:ext cx="241300" cy="241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3252" y="2545655"/>
            <a:ext cx="79037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corpus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73303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002905" y="1975445"/>
            <a:ext cx="182503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794770" y="2143720"/>
            <a:ext cx="241300" cy="2413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1658" y="2435820"/>
            <a:ext cx="98747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Docling parser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249216" y="2682180"/>
            <a:ext cx="1332359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layout, tables, headings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92001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189885" y="1975445"/>
            <a:ext cx="182498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14" name="Image 2" descr="Code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81700" y="2143720"/>
            <a:ext cx="241300" cy="2413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80162" y="2435820"/>
            <a:ext cx="104437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Hybrid chunker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7392" y="2682180"/>
            <a:ext cx="1229916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 + semantics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710694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376815" y="1975445"/>
            <a:ext cx="1824980" cy="1043880"/>
          </a:xfrm>
          <a:prstGeom prst="roundRect">
            <a:avLst>
              <a:gd name="adj" fmla="val 9429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pic>
        <p:nvPicPr>
          <p:cNvPr id="19" name="Image 3" descr="Light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68630" y="2143720"/>
            <a:ext cx="241300" cy="2413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618164" y="2435820"/>
            <a:ext cx="1342281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Ollama embeddings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755037" y="2682180"/>
            <a:ext cx="1068487" cy="194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3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nomic-embed-text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9293870" y="2372916"/>
            <a:ext cx="2286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560570" y="2088455"/>
            <a:ext cx="1818630" cy="817860"/>
          </a:xfrm>
          <a:prstGeom prst="roundRect">
            <a:avLst>
              <a:gd name="adj" fmla="val 12423"/>
            </a:avLst>
          </a:prstGeom>
          <a:solidFill>
            <a:srgbClr val="1F3A5C"/>
          </a:solidFill>
          <a:ln/>
        </p:spPr>
      </p:sp>
      <p:pic>
        <p:nvPicPr>
          <p:cNvPr id="24" name="Image 4" descr="Database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349210" y="2253555"/>
            <a:ext cx="241300" cy="2413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142141" y="2545655"/>
            <a:ext cx="655489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PGVector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28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27" name="Text 20"/>
          <p:cNvSpPr/>
          <p:nvPr/>
        </p:nvSpPr>
        <p:spPr>
          <a:xfrm>
            <a:off x="1832570" y="4151610"/>
            <a:ext cx="53851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</a:t>
            </a:r>
            <a:endParaRPr lang="en-US" sz="3200" dirty="0"/>
          </a:p>
        </p:txBody>
      </p:sp>
      <p:sp>
        <p:nvSpPr>
          <p:cNvPr id="28" name="Text 21"/>
          <p:cNvSpPr/>
          <p:nvPr/>
        </p:nvSpPr>
        <p:spPr>
          <a:xfrm>
            <a:off x="1631553" y="4771330"/>
            <a:ext cx="88974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pages parsed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34925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0" name="Text 23"/>
          <p:cNvSpPr/>
          <p:nvPr/>
        </p:nvSpPr>
        <p:spPr>
          <a:xfrm>
            <a:off x="4512270" y="4151610"/>
            <a:ext cx="53851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69</a:t>
            </a:r>
            <a:endParaRPr lang="en-US" sz="3200" dirty="0"/>
          </a:p>
        </p:txBody>
      </p:sp>
      <p:sp>
        <p:nvSpPr>
          <p:cNvPr id="31" name="Text 24"/>
          <p:cNvSpPr/>
          <p:nvPr/>
        </p:nvSpPr>
        <p:spPr>
          <a:xfrm>
            <a:off x="4241354" y="4771330"/>
            <a:ext cx="1029543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chunks indexed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61722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3" name="Text 26"/>
          <p:cNvSpPr/>
          <p:nvPr/>
        </p:nvSpPr>
        <p:spPr>
          <a:xfrm>
            <a:off x="7090569" y="4151610"/>
            <a:ext cx="74131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36s</a:t>
            </a:r>
            <a:endParaRPr lang="en-US" sz="3200" dirty="0"/>
          </a:p>
        </p:txBody>
      </p:sp>
      <p:sp>
        <p:nvSpPr>
          <p:cNvPr id="34" name="Text 27"/>
          <p:cNvSpPr/>
          <p:nvPr/>
        </p:nvSpPr>
        <p:spPr>
          <a:xfrm>
            <a:off x="6966396" y="4771330"/>
            <a:ext cx="938907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ingestion time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8851900" y="3276501"/>
            <a:ext cx="2527300" cy="2565499"/>
          </a:xfrm>
          <a:prstGeom prst="roundRect">
            <a:avLst>
              <a:gd name="adj" fmla="val 4020"/>
            </a:avLst>
          </a:prstGeom>
          <a:solidFill>
            <a:srgbClr val="F0EFE9"/>
          </a:solidFill>
          <a:ln/>
        </p:spPr>
      </p:sp>
      <p:sp>
        <p:nvSpPr>
          <p:cNvPr id="36" name="Text 29"/>
          <p:cNvSpPr/>
          <p:nvPr/>
        </p:nvSpPr>
        <p:spPr>
          <a:xfrm>
            <a:off x="9993610" y="4151610"/>
            <a:ext cx="29468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3200" dirty="0"/>
          </a:p>
        </p:txBody>
      </p:sp>
      <p:sp>
        <p:nvSpPr>
          <p:cNvPr id="37" name="Text 30"/>
          <p:cNvSpPr/>
          <p:nvPr/>
        </p:nvSpPr>
        <p:spPr>
          <a:xfrm>
            <a:off x="9579719" y="4771330"/>
            <a:ext cx="1071612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to re-ingest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39" name="Text 3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14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RUNTIME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Five agents, not fifteen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652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· Planner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652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Classifies intent, decomposes the question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464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0988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· Retrieval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88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Hybrid search: PGVector + lexical, RRF-fused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800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2324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· Evidence Validator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2324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Supported, partial, contradictory or insufficient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136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660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· Synthesis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660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Writes from approved evidence only, cited inline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347200" y="1921470"/>
            <a:ext cx="2032000" cy="910580"/>
          </a:xfrm>
          <a:prstGeom prst="roundRect">
            <a:avLst>
              <a:gd name="adj" fmla="val 11158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9499600" y="2073870"/>
            <a:ext cx="1779016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· Citation &amp; Quality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499600" y="2324050"/>
            <a:ext cx="17790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 claims, scores confidence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2800" y="3060650"/>
            <a:ext cx="5826522" cy="2781350"/>
          </a:xfrm>
          <a:prstGeom prst="roundRect">
            <a:avLst>
              <a:gd name="adj" fmla="val 3653"/>
            </a:avLst>
          </a:prstGeom>
          <a:solidFill>
            <a:srgbClr val="1F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1041400" y="4090640"/>
            <a:ext cx="55304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is bounded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1400" y="4392861"/>
            <a:ext cx="553040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Insufficient evidence sends the Retrieval agent back with a reformulated query — up to 2 retries, then the run stops rather than guessing.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91722" y="3060650"/>
            <a:ext cx="4587478" cy="2781350"/>
          </a:xfrm>
          <a:prstGeom prst="roundRect">
            <a:avLst>
              <a:gd name="adj" fmla="val 365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020322" y="408176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confidence ≥ 0.85 → answer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20322" y="435352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0.60 – 0.85 → answer + caveat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20322" y="4625280"/>
            <a:ext cx="4254186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0.60 → abstain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14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VERIFIED, NOT SIMULATED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 real question, through the real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24645"/>
            <a:ext cx="6234658" cy="391418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156420"/>
            <a:ext cx="5944241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"What is ethical AI?" — asked live in OpenWebUI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47750" y="2462461"/>
            <a:ext cx="5944241" cy="891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05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"Ethical AI involves ensuring that AI systems do not harm humans or other morally relevant beings... A being has moral status if it counts morally in its own right [EthicsofAI.pdf, p.6]... AI must consider responsibility, transparency, auditability, incorruptibility and predictability [EthicsofAI.pdf, p.3]."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257008" y="1921470"/>
            <a:ext cx="4122192" cy="1052810"/>
          </a:xfrm>
          <a:prstGeom prst="roundRect">
            <a:avLst>
              <a:gd name="adj" fmla="val 9650"/>
            </a:avLst>
          </a:prstGeom>
          <a:solidFill>
            <a:srgbClr val="1F3A5C"/>
          </a:solidFill>
          <a:ln/>
        </p:spPr>
      </p:sp>
      <p:sp>
        <p:nvSpPr>
          <p:cNvPr id="8" name="Text 6"/>
          <p:cNvSpPr/>
          <p:nvPr/>
        </p:nvSpPr>
        <p:spPr>
          <a:xfrm>
            <a:off x="8944918" y="2086570"/>
            <a:ext cx="797173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426119" y="2622500"/>
            <a:ext cx="1783921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confidence — auto-answered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257008" y="3101280"/>
            <a:ext cx="4122192" cy="2740720"/>
          </a:xfrm>
          <a:prstGeom prst="roundRect">
            <a:avLst>
              <a:gd name="adj" fmla="val 3707"/>
            </a:avLst>
          </a:prstGeom>
          <a:solidFill>
            <a:srgbClr val="F0EFE9"/>
          </a:solidFill>
          <a:ln/>
        </p:spPr>
      </p:sp>
      <p:sp>
        <p:nvSpPr>
          <p:cNvPr id="11" name="Text 9"/>
          <p:cNvSpPr/>
          <p:nvPr/>
        </p:nvSpPr>
        <p:spPr>
          <a:xfrm>
            <a:off x="7434808" y="3279080"/>
            <a:ext cx="3879590" cy="193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Sources returned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34808" y="35102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p.6 — Machines with Moral Status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434808" y="37515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p.1 — The Ethics of 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34808" y="3992811"/>
            <a:ext cx="38795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EthicsofAI.pdf, p.2–3 — Ethics in Machine Learning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14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TRUST &amp; GOVERNANCE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BFBF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What "Aegis" actually delivers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3420517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5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2175470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6000" y="2492970"/>
            <a:ext cx="310454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16000" y="2779961"/>
            <a:ext cx="310454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retrieval-content and output checkpoints. Document text is data, never instructions — tested against prompt-injection patterns.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85717" y="1972270"/>
            <a:ext cx="3420566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9" name="Image 1" descr="Users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88917" y="217547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88917" y="2492970"/>
            <a:ext cx="3104591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88917" y="2779961"/>
            <a:ext cx="3104591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Risk-based escalation — low-risk answers flow automatically, high-risk or conflicting evidence routes to review.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58683" y="1972270"/>
            <a:ext cx="3420517" cy="3869730"/>
          </a:xfrm>
          <a:prstGeom prst="roundRect">
            <a:avLst>
              <a:gd name="adj" fmla="val 2970"/>
            </a:avLst>
          </a:prstGeom>
          <a:solidFill>
            <a:srgbClr val="243248"/>
          </a:solidFill>
          <a:ln/>
        </p:spPr>
      </p:sp>
      <p:pic>
        <p:nvPicPr>
          <p:cNvPr id="13" name="Image 2" descr="Key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61883" y="217547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61883" y="2492970"/>
            <a:ext cx="310454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Hash-chain audit log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161883" y="2779961"/>
            <a:ext cx="310454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agent decision, SHA-256 linked. Tamper-detection integration-tested: an altered row is caught immediately.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/ 14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Every inference call, traced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75445"/>
            <a:ext cx="5181600" cy="3863380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8182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Verified in Arize Phoenix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2350" y="24688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trace per request, spanning: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2350" y="2767261"/>
            <a:ext cx="4911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• 4 LLM completion spans — planner, evidence validator, synthesis, citation &amp; quality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2752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• 2 embedding spans, 2 retriever spans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3950" y="1972270"/>
            <a:ext cx="5175250" cy="3869730"/>
          </a:xfrm>
          <a:prstGeom prst="roundRect">
            <a:avLst>
              <a:gd name="adj" fmla="val 2626"/>
            </a:avLst>
          </a:prstGeom>
          <a:solidFill>
            <a:srgbClr val="F0EFE9"/>
          </a:solidFill>
          <a:ln/>
        </p:spPr>
      </p:sp>
      <p:sp>
        <p:nvSpPr>
          <p:cNvPr id="10" name="Text 8"/>
          <p:cNvSpPr/>
          <p:nvPr/>
        </p:nvSpPr>
        <p:spPr>
          <a:xfrm>
            <a:off x="6407150" y="3403005"/>
            <a:ext cx="4911916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span carries the model, prompt version and latency — a bad answer is root-caused from the trace, not guessed at.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7150" y="3964285"/>
            <a:ext cx="4911916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Prompts are externalized and versioned (</a:t>
            </a:r>
            <a:r>
              <a:rPr lang="en-US" sz="1100" b="1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/prompts/*.yaml</a:t>
            </a: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) — every trace records exactly which version ran.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/ 14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OBSERVABILITY &amp; LEARNING PLANE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80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Quality is measured,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635621" y="2124670"/>
            <a:ext cx="9197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Faithfulness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9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109591" y="2124670"/>
            <a:ext cx="13057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 relevancy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46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785421" y="2124670"/>
            <a:ext cx="128810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 precision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813800" y="1972270"/>
            <a:ext cx="2565400" cy="518120"/>
          </a:xfrm>
          <a:prstGeom prst="roundRect">
            <a:avLst>
              <a:gd name="adj" fmla="val 1960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9578975" y="2124670"/>
            <a:ext cx="1035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Context recall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800" y="2744391"/>
            <a:ext cx="5181600" cy="3097609"/>
          </a:xfrm>
          <a:prstGeom prst="roundRect">
            <a:avLst>
              <a:gd name="adj" fmla="val 328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2947591"/>
            <a:ext cx="491845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Golden set, real corpus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16000" y="3214291"/>
            <a:ext cx="491845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Factual and deliberately unanswerable questions — an unanswerable question should abstain, not guess.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97600" y="2744391"/>
            <a:ext cx="5181600" cy="3097609"/>
          </a:xfrm>
          <a:prstGeom prst="roundRect">
            <a:avLst>
              <a:gd name="adj" fmla="val 3280"/>
            </a:avLst>
          </a:prstGeom>
          <a:solidFill>
            <a:srgbClr val="1F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947591"/>
            <a:ext cx="491845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Baseline &amp; regression gate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3214291"/>
            <a:ext cx="491845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First run sets the baseline; every later run compares against it — a drop flags a regression instead of shipping silently.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4536" y="6238280"/>
            <a:ext cx="455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/ 14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ENGINEERING JUDGMENT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Same brief, different engineering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816790"/>
              </p:ext>
            </p:extLst>
          </p:nvPr>
        </p:nvGraphicFramePr>
        <p:xfrm>
          <a:off x="812800" y="1921470"/>
          <a:ext cx="10566400" cy="3907828"/>
        </p:xfrm>
        <a:graphic>
          <a:graphicData uri="http://schemas.openxmlformats.org/drawingml/2006/table">
            <a:tbl>
              <a:tblPr/>
              <a:tblGrid>
                <a:gridCol w="2747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9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9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127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Dimension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General / Beginner’s approach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BFB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This build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272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Chunking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Fixed-size, no structure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Docling layout-aware, section-tagged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Retrieval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Single vector search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Hybrid + bounded self-correction loop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Trust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Answer confidently, always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Confidence-gated: answer, caveat or abstain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Observability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print() statements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Full OTel trace per agent hop, in Phoenix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132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Evidence of quality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5B647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Eyeballing a few answers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A2333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RAGAs golden set + regression 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B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/ 14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STATED PLAINLY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3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20"/>
              </a:lnSpc>
              <a:buNone/>
            </a:pPr>
            <a:r>
              <a:rPr lang="en-US" sz="28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Built vs. documented — nothing overclaimed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892250"/>
            <a:ext cx="3386634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5" name="Image 0" descr="CheckCircl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2108150"/>
            <a:ext cx="20320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08100" y="2110680"/>
            <a:ext cx="1898482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Running, verified locally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8700" y="2412950"/>
            <a:ext cx="3043479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Ingestion · hybrid retrieval · 5-agent crew · FastAPI + OpenWebUI · Phoenix tracing · guardrails · human-in-the-loop review queue · agent- and model-level fallback · hash-chain audit log · a unified control plane · a first RAGAs pass — 22 passing tests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402634" y="1892250"/>
            <a:ext cx="3386683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9" name="Image 1" descr="Clo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34" y="2108150"/>
            <a:ext cx="203200" cy="20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97934" y="2110680"/>
            <a:ext cx="1502767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Genuinely not built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618534" y="2412950"/>
            <a:ext cx="304353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authentication · rate limiting · CI eval gate — no auth/traffic threat model exists at this assessment's single-local-user scale to justify building them speculatively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992517" y="1892250"/>
            <a:ext cx="3386683" cy="394975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pic>
        <p:nvPicPr>
          <p:cNvPr id="13" name="Image 2" descr="Clou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8417" y="2108150"/>
            <a:ext cx="203200" cy="203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87817" y="2110680"/>
            <a:ext cx="171192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A23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Written, not deployed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208417" y="2412950"/>
            <a:ext cx="304353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full GCP reference architecture is written in /doc — component-by-component, nothing hand-waved. No cloud environment was provisioned for this assessment, so none of it has run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/ 14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Laptop today, cloud by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924645"/>
            <a:ext cx="5181600" cy="391418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6350">
            <a:solidFill>
              <a:srgbClr val="E3E0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3102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— running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2350" y="24180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docker-compose: Postgres+PGVector, Phoenix, OpenWebUI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2350" y="27164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Ollama native on the host — qwen2.5:7b-instruct + nomic-embed-text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2350" y="30149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FastAPI backend, Python 3.11 venv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3950" y="1921470"/>
            <a:ext cx="5175250" cy="3920530"/>
          </a:xfrm>
          <a:prstGeom prst="roundRect">
            <a:avLst>
              <a:gd name="adj" fmla="val 2591"/>
            </a:avLst>
          </a:prstGeom>
          <a:solidFill>
            <a:srgbClr val="1F3A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7150" y="2124670"/>
            <a:ext cx="491191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reference — GCP, documented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7150" y="24116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GKE / Cloud Run + Cloud SQL (PGVector)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7150" y="271011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KMS for audit-log signing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7150" y="3008561"/>
            <a:ext cx="491191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D9E1E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Vertex AI for future eval / fine-tuning tooling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 / 14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F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B08D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BEYOND THE BRIEF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1A23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What wasn't asked for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921470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65200" y="2073870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Document versioning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65200" y="2329111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active / superseded status, never mixed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77234" y="1921470"/>
            <a:ext cx="3437483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529634" y="2073870"/>
            <a:ext cx="3226664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Checksum dedupe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29634" y="2329111"/>
            <a:ext cx="322666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re-ingest is a verified no-op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941717" y="1921470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094117" y="2073870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Prompt-injection guardrail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94117" y="2329111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unit-tested against real patterns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2800" y="3945235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65200" y="4097635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Tamper-evident audit log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5200" y="4352875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SHA-256 hash chain, not just a log file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77234" y="3945235"/>
            <a:ext cx="3437483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29634" y="4097635"/>
            <a:ext cx="3226664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RAG error taxonomy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29634" y="4352875"/>
            <a:ext cx="322666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structures the feedback loop, not just "improve"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41717" y="3945235"/>
            <a:ext cx="3437434" cy="1896765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8094117" y="4097635"/>
            <a:ext cx="3226613" cy="229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3A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Disclosed upstream bug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94117" y="4352875"/>
            <a:ext cx="32266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patched &amp; documented, not hidden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80"/>
            <a:ext cx="7238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883106" y="6238280"/>
            <a:ext cx="5468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 / 14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STATUS &amp;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53120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000" b="1" dirty="0">
                <a:solidFill>
                  <a:srgbClr val="FBFBF8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3210570"/>
            <a:ext cx="3420517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388370"/>
            <a:ext cx="315686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0600" y="3634730"/>
            <a:ext cx="3156864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Expand the golden and adversarial eval sets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5717" y="3210570"/>
            <a:ext cx="3420566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8" name="Text 6"/>
          <p:cNvSpPr/>
          <p:nvPr/>
        </p:nvSpPr>
        <p:spPr>
          <a:xfrm>
            <a:off x="4563517" y="3388370"/>
            <a:ext cx="3156915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63517" y="3634730"/>
            <a:ext cx="3156915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auth, rate limiting, CI eval gate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958683" y="3210570"/>
            <a:ext cx="3420517" cy="1002010"/>
          </a:xfrm>
          <a:prstGeom prst="roundRect">
            <a:avLst>
              <a:gd name="adj" fmla="val 10140"/>
            </a:avLst>
          </a:prstGeom>
          <a:solidFill>
            <a:srgbClr val="243248"/>
          </a:solidFill>
          <a:ln/>
        </p:spPr>
      </p:sp>
      <p:sp>
        <p:nvSpPr>
          <p:cNvPr id="11" name="Text 9"/>
          <p:cNvSpPr/>
          <p:nvPr/>
        </p:nvSpPr>
        <p:spPr>
          <a:xfrm>
            <a:off x="8136483" y="3388370"/>
            <a:ext cx="3156864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9A86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36483" y="3634730"/>
            <a:ext cx="3156864" cy="425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BFC8D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Chaos-test model fallback; re-add 2nd PDF, OCR off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12800" y="5831880"/>
            <a:ext cx="7475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FB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AegisRAG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485610" y="5845175"/>
            <a:ext cx="1950398" cy="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8A9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github.com/mad0907/aegisRag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1132</Words>
  <Application>Microsoft Macintosh PowerPoint</Application>
  <PresentationFormat>Widescreen</PresentationFormat>
  <Paragraphs>219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EB Garamond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AegisRAG — Enterprise Agentic Document Intelligence Platform</dc:title>
  <dc:subject>PptxGenJS Presentation</dc:subject>
  <dc:creator>PptxGenJS</dc:creator>
  <cp:lastModifiedBy>Munmun Das</cp:lastModifiedBy>
  <cp:revision>2</cp:revision>
  <dcterms:created xsi:type="dcterms:W3CDTF">2026-09-20T10:25:33Z</dcterms:created>
  <dcterms:modified xsi:type="dcterms:W3CDTF">2026-09-20T10:30:37Z</dcterms:modified>
</cp:coreProperties>
</file>